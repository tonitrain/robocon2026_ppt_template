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f4e5fe429741dc" /><Relationship Type="http://schemas.openxmlformats.org/officeDocument/2006/relationships/extended-properties" Target="/docProps/app.xml" Id="R4dd18555c4cf493f" /><Relationship Type="http://schemas.openxmlformats.org/officeDocument/2006/relationships/officeDocument" Target="/ppt/presentation.xml" Id="R076bf9d3291444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61673d5ea34c9b"/>
    <p:sldMasterId xmlns:r="http://schemas.openxmlformats.org/officeDocument/2006/relationships" id="2147483650" r:id="Rabb3a8343a65406a"/>
    <p:sldMasterId xmlns:r="http://schemas.openxmlformats.org/officeDocument/2006/relationships" id="2147483661" r:id="R0b20f9622aa04951"/>
    <p:sldMasterId xmlns:r="http://schemas.openxmlformats.org/officeDocument/2006/relationships" id="2147483664" r:id="Rc8c1bb37a63d42fa"/>
  </p:sldMasterIdLst>
  <p:notesMasterIdLst>
    <p:notesMasterId xmlns:r="http://schemas.openxmlformats.org/officeDocument/2006/relationships" r:id="R3ac092cbc0414106"/>
  </p:notesMasterIdLst>
  <p:sldIdLst>
    <p:sldId xmlns:r="http://schemas.openxmlformats.org/officeDocument/2006/relationships" id="256" r:id="Rfbbd0d616aa64f71"/>
    <p:sldId xmlns:r="http://schemas.openxmlformats.org/officeDocument/2006/relationships" id="257" r:id="R30b898a1e06d4b8e"/>
    <p:sldId xmlns:r="http://schemas.openxmlformats.org/officeDocument/2006/relationships" id="258" r:id="Rf883dd670e5346f7"/>
    <p:sldId xmlns:r="http://schemas.openxmlformats.org/officeDocument/2006/relationships" id="259" r:id="Rf23f4860acec44d0"/>
    <p:sldId xmlns:r="http://schemas.openxmlformats.org/officeDocument/2006/relationships" id="260" r:id="Rad156cc929ec41dc"/>
    <p:sldId xmlns:r="http://schemas.openxmlformats.org/officeDocument/2006/relationships" id="261" r:id="R41d6171a477e418b"/>
    <p:sldId xmlns:r="http://schemas.openxmlformats.org/officeDocument/2006/relationships" id="262" r:id="R78a18bfa27ee41c0"/>
    <p:sldId xmlns:r="http://schemas.openxmlformats.org/officeDocument/2006/relationships" id="263" r:id="R5ad7d1104ae142ce"/>
    <p:sldId xmlns:r="http://schemas.openxmlformats.org/officeDocument/2006/relationships" id="264" r:id="Rd3f070e05b1a4bdd"/>
    <p:sldId xmlns:r="http://schemas.openxmlformats.org/officeDocument/2006/relationships" id="265" r:id="R335e2b5a4ccd4ea4"/>
    <p:sldId xmlns:r="http://schemas.openxmlformats.org/officeDocument/2006/relationships" id="266" r:id="R5cb1d5aa0e5b4b03"/>
    <p:sldId xmlns:r="http://schemas.openxmlformats.org/officeDocument/2006/relationships" id="267" r:id="Rdc3da75d887544da"/>
    <p:sldId xmlns:r="http://schemas.openxmlformats.org/officeDocument/2006/relationships" id="268" r:id="Rcc28f4b896dd40a0"/>
    <p:sldId xmlns:r="http://schemas.openxmlformats.org/officeDocument/2006/relationships" id="269" r:id="R2e7d7867f2eb45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c5a70204cb497c" /><Relationship Type="http://schemas.openxmlformats.org/officeDocument/2006/relationships/slideMaster" Target="/ppt/slideMasters/slideMaster1.xml" Id="R7961673d5ea34c9b" /><Relationship Type="http://schemas.openxmlformats.org/officeDocument/2006/relationships/slideMaster" Target="/ppt/slideMasters/slideMaster2.xml" Id="Rabb3a8343a65406a" /><Relationship Type="http://schemas.openxmlformats.org/officeDocument/2006/relationships/slideMaster" Target="/ppt/slideMasters/slideMaster3.xml" Id="R0b20f9622aa04951" /><Relationship Type="http://schemas.openxmlformats.org/officeDocument/2006/relationships/slideMaster" Target="/ppt/slideMasters/slideMaster4.xml" Id="Rc8c1bb37a63d42fa" /><Relationship Type="http://schemas.openxmlformats.org/officeDocument/2006/relationships/notesMaster" Target="/ppt/notesMasters/notesMaster1.xml" Id="R3ac092cbc0414106" /><Relationship Type="http://schemas.openxmlformats.org/officeDocument/2006/relationships/presProps" Target="/ppt/presProps.xml" Id="R8222421f0be84e84" /><Relationship Type="http://schemas.openxmlformats.org/officeDocument/2006/relationships/tableStyles" Target="/ppt/tableStyles.xml" Id="Rca0aa471fb4e41a3" /><Relationship Type="http://schemas.openxmlformats.org/officeDocument/2006/relationships/slide" Target="/ppt/slides/slide1.xml" Id="Rfbbd0d616aa64f71" /><Relationship Type="http://schemas.openxmlformats.org/officeDocument/2006/relationships/slide" Target="/ppt/slides/slide2.xml" Id="R30b898a1e06d4b8e" /><Relationship Type="http://schemas.openxmlformats.org/officeDocument/2006/relationships/slide" Target="/ppt/slides/slide3.xml" Id="Rf883dd670e5346f7" /><Relationship Type="http://schemas.openxmlformats.org/officeDocument/2006/relationships/slide" Target="/ppt/slides/slide4.xml" Id="Rf23f4860acec44d0" /><Relationship Type="http://schemas.openxmlformats.org/officeDocument/2006/relationships/slide" Target="/ppt/slides/slide5.xml" Id="Rad156cc929ec41dc" /><Relationship Type="http://schemas.openxmlformats.org/officeDocument/2006/relationships/slide" Target="/ppt/slides/slide6.xml" Id="R41d6171a477e418b" /><Relationship Type="http://schemas.openxmlformats.org/officeDocument/2006/relationships/slide" Target="/ppt/slides/slide7.xml" Id="R78a18bfa27ee41c0" /><Relationship Type="http://schemas.openxmlformats.org/officeDocument/2006/relationships/slide" Target="/ppt/slides/slide8.xml" Id="R5ad7d1104ae142ce" /><Relationship Type="http://schemas.openxmlformats.org/officeDocument/2006/relationships/slide" Target="/ppt/slides/slide9.xml" Id="Rd3f070e05b1a4bdd" /><Relationship Type="http://schemas.openxmlformats.org/officeDocument/2006/relationships/slide" Target="/ppt/slides/slide10.xml" Id="R335e2b5a4ccd4ea4" /><Relationship Type="http://schemas.openxmlformats.org/officeDocument/2006/relationships/slide" Target="/ppt/slides/slide11.xml" Id="R5cb1d5aa0e5b4b03" /><Relationship Type="http://schemas.openxmlformats.org/officeDocument/2006/relationships/slide" Target="/ppt/slides/slide12.xml" Id="Rdc3da75d887544da" /><Relationship Type="http://schemas.openxmlformats.org/officeDocument/2006/relationships/slide" Target="/ppt/slides/slide13.xml" Id="Rcc28f4b896dd40a0" /><Relationship Type="http://schemas.openxmlformats.org/officeDocument/2006/relationships/slide" Target="/ppt/slides/slide14.xml" Id="R2e7d7867f2eb45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67e0d8b75425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ba7c376a6843ec" /><Relationship Type="http://schemas.openxmlformats.org/officeDocument/2006/relationships/notesMaster" Target="/ppt/notesMasters/notesMaster1.xml" Id="Rd55336e2245c44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7dc9efa2264200" /><Relationship Type="http://schemas.openxmlformats.org/officeDocument/2006/relationships/notesMaster" Target="/ppt/notesMasters/notesMaster1.xml" Id="Rfe580b969bb141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9bfe5c192e41ac" /><Relationship Type="http://schemas.openxmlformats.org/officeDocument/2006/relationships/notesMaster" Target="/ppt/notesMasters/notesMaster1.xml" Id="R5d77916541af41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c24b903d474a2d" /><Relationship Type="http://schemas.openxmlformats.org/officeDocument/2006/relationships/notesMaster" Target="/ppt/notesMasters/notesMaster1.xml" Id="R83c54cae234240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54d7edeba84d2b" /><Relationship Type="http://schemas.openxmlformats.org/officeDocument/2006/relationships/notesMaster" Target="/ppt/notesMasters/notesMaster1.xml" Id="Rbbc15870ed7845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9eab446213404b" /><Relationship Type="http://schemas.openxmlformats.org/officeDocument/2006/relationships/notesMaster" Target="/ppt/notesMasters/notesMaster1.xml" Id="Rae03a4f4035a44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a3d7f6a39846c2" /><Relationship Type="http://schemas.openxmlformats.org/officeDocument/2006/relationships/notesMaster" Target="/ppt/notesMasters/notesMaster1.xml" Id="R76b7ec0b03ab40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6c326dcca948ff" /><Relationship Type="http://schemas.openxmlformats.org/officeDocument/2006/relationships/notesMaster" Target="/ppt/notesMasters/notesMaster1.xml" Id="R7078d5bea60149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02f20fd166408d" /><Relationship Type="http://schemas.openxmlformats.org/officeDocument/2006/relationships/notesMaster" Target="/ppt/notesMasters/notesMaster1.xml" Id="Rfb6cb35173b343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0057edeb8f4113" /><Relationship Type="http://schemas.openxmlformats.org/officeDocument/2006/relationships/notesMaster" Target="/ppt/notesMasters/notesMaster1.xml" Id="R683c5f0556b74d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1d30fba8b440b1" /><Relationship Type="http://schemas.openxmlformats.org/officeDocument/2006/relationships/notesMaster" Target="/ppt/notesMasters/notesMaster1.xml" Id="R494c4fa935e44f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895e9e767b483e" /><Relationship Type="http://schemas.openxmlformats.org/officeDocument/2006/relationships/notesMaster" Target="/ppt/notesMasters/notesMaster1.xml" Id="R62690d184cdd45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d60bdc96e54f34" /><Relationship Type="http://schemas.openxmlformats.org/officeDocument/2006/relationships/notesMaster" Target="/ppt/notesMasters/notesMaster1.xml" Id="R5b8ef5570c2140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30af93bc7d42c6" /><Relationship Type="http://schemas.openxmlformats.org/officeDocument/2006/relationships/notesMaster" Target="/ppt/notesMasters/notesMaster1.xml" Id="R581c86164ee243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替换项目名称、副标题与汇报信息。右侧齿轮图为可替换的图片装饰。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用户提供：ABUIABAEGAAgiOjNzQYo8I_9sgQwgA84oQY.png.webp，右上齿轮区域裁切。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四个目录项可根据实际报告章节修改。左下装饰取自参考海报的建筑图案。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用户提供：ABUIABAEGAAghrPJzQYokJLKtAcwgA84oAY.png.webp，左上建筑区域裁切。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适用于章节切换，复制后修改编号、标题和导语。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版式原创设计；配色参考用户提供的四张图片。未使用外部事实或研究结论。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左侧保留一条核心陈述；右侧三段依次填写背景、问题和目标。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版式原创设计；配色参考用户提供的四张图片。未使用外部事实或研究结论。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图片区为原生图片占位符。插入后可在“裁剪”中调整构图；删除提示文字即可。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版式原创设计；配色参考用户提供的四张图片。未使用外部事实或研究结论。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用于设计方案、技术路径或改进前后的对比。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版式原创设计；配色参考用户提供的四张图片。未使用外部事实或研究结论。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适用于技术模块、三条结论或三项优势。可以直接改写模块名称。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版式原创设计；配色参考用户提供的四张图片。未使用外部事实或研究结论。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四步流程；横线和方形节点为可编辑的原生图形。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版式原创设计；配色参考用户提供的四张图片。未使用外部事实或研究结论。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 92%、1.8 s、24 h 仅用于演示排版，并非任何真实项目结果。正式汇报前替换所有数据与统计口径。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版式原创设计；配色参考用户提供的四张图片。未使用外部事实或研究结论。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原生 PowerPoint 柱状图。通过右键“编辑数据”修改两组系列与三个分类。图中 60/72/68 和 82/89/92 是虚构示例数值。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版式原创设计；配色参考用户提供的四张图片。未使用外部事实或研究结论。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原生 PowerPoint 表格，可添加、删除行列并修改列宽。表中破折号为待填数据。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版式原创设计；配色参考用户提供的四张图片。未使用外部事实或研究结论。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原生 PowerPoint 表格；当前阶段和周次为示例，可根据实际日程调整。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版式原创设计；配色参考用户提供的四张图片。未使用外部事实或研究结论。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照片为原生图片占位符；团队信息是示例字段。成员超过三人时可复制本页。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版式原创设计；配色参考用户提供的四张图片。未使用外部事实或研究结论。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替换结束语、团队名称与联系方式。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模板使用：文字、表格与图表均可编辑；通过“新建幻灯片 / 版式”复用本套版式。图片占位区可插入自己的项目图片。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版式原创设计；配色参考用户提供的四张图片。未使用外部事实或研究结论。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aef2b928d43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41446bbf5cb4bc8" /><Relationship Type="http://schemas.openxmlformats.org/officeDocument/2006/relationships/image" Target="/ppt/media/image.png" Id="Rc2bf707afcb94b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55912fdf26444cb" /><Relationship Type="http://schemas.openxmlformats.org/officeDocument/2006/relationships/image" Target="/ppt/media/image2.png" Id="R4b857f9004644a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a3123a1611c46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b1b90aff6945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70a0d405e84a0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ce73ab4cec47c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d63f3bb44e4df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8d3705039e4ce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3ca38f6bad40f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050cb026e1447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82874fff0042f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121820824246a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c881a57c9c443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0da32dbc2a54c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01 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品牌">
            <a:extLst xmlns:a="http://schemas.openxmlformats.org/drawingml/2006/main">
              <a:ext uri="{FF2B5EF4-FFF2-40B4-BE49-F238E27FC236}">
                <a16:creationId xmlns:a16="http://schemas.microsoft.com/office/drawing/2014/main" id="{FF996089-E8FA-4BB2-A27A-49656437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ROBOCON</a:t>
            </a:r>
          </a:p>
        </p:txBody>
      </p:sp>
      <p:sp>
        <p:nvSpPr>
          <p:cNvPr id="3" name="英文副标">
            <a:extLst xmlns:a="http://schemas.openxmlformats.org/drawingml/2006/main">
              <a:ext uri="{FF2B5EF4-FFF2-40B4-BE49-F238E27FC236}">
                <a16:creationId xmlns:a16="http://schemas.microsoft.com/office/drawing/2014/main" id="{5A9CAE7A-13A9-42C7-9979-30961BB7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CHINA UNIVERSITY ROBOT COMPETITION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F11DE663-1240-4FE6-A388-D3ABCE40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7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5" name="封面标题">
            <a:extLst xmlns:a="http://schemas.openxmlformats.org/drawingml/2006/main">
              <a:ext uri="{FF2B5EF4-FFF2-40B4-BE49-F238E27FC236}">
                <a16:creationId xmlns:a16="http://schemas.microsoft.com/office/drawing/2014/main" id="{F9999C23-1BAB-4B75-85E3-1B6A49C83E0B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2162175"/>
            <a:ext cx="657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[项目名称]</a:t>
            </a:r>
          </a:p>
          <a:p xmlns:a="http://schemas.openxmlformats.org/drawingml/2006/main">
            <a:pPr algn="l">
              <a:defRPr sz="54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方案汇报</a:t>
            </a:r>
          </a:p>
        </p:txBody>
      </p:sp>
      <p:sp>
        <p:nvSpPr>
          <p:cNvPr id="6" name="封面副标题">
            <a:extLst xmlns:a="http://schemas.openxmlformats.org/drawingml/2006/main">
              <a:ext uri="{FF2B5EF4-FFF2-40B4-BE49-F238E27FC236}">
                <a16:creationId xmlns:a16="http://schemas.microsoft.com/office/drawing/2014/main" id="{0B302EA1-4033-45C8-9548-20E2E55563D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3900" y="437197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在此填写简短的项目说明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f707afcb94bb4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428750"/>
            <a:ext cx="3981450" cy="3981450"/>
          </a:xfrm>
          <a:prstGeom xmlns:a="http://schemas.openxmlformats.org/drawingml/2006/main" prst="rect">
            <a:avLst/>
          </a:prstGeom>
        </p:spPr>
      </p:pic>
      <p:sp>
        <p:nvSpPr>
          <p:cNvPr id="8" name="分隔线">
            <a:extLst xmlns:a="http://schemas.openxmlformats.org/drawingml/2006/main">
              <a:ext uri="{FF2B5EF4-FFF2-40B4-BE49-F238E27FC236}">
                <a16:creationId xmlns:a16="http://schemas.microsoft.com/office/drawing/2014/main" id="{74D8F359-E9B6-4C0B-ADED-38C4908F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10225"/>
            <a:ext cx="723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BD00"/>
          </a:solidFill>
          <a:ln xmlns:a="http://schemas.openxmlformats.org/drawingml/2006/main" w="0">
            <a:noFill/>
          </a:ln>
        </p:spPr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2D5632A3-D36C-4192-85EF-1770AA7B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10225"/>
            <a:ext cx="723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10" name="分隔线">
            <a:extLst xmlns:a="http://schemas.openxmlformats.org/drawingml/2006/main">
              <a:ext uri="{FF2B5EF4-FFF2-40B4-BE49-F238E27FC236}">
                <a16:creationId xmlns:a16="http://schemas.microsoft.com/office/drawing/2014/main" id="{CBF8828D-13BD-47AB-88A4-52563C86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610225"/>
            <a:ext cx="2305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BC"/>
          </a:solidFill>
          <a:ln xmlns:a="http://schemas.openxmlformats.org/drawingml/2006/main" w="0">
            <a:noFill/>
          </a:ln>
        </p:spPr>
      </p:sp>
      <p:sp>
        <p:nvSpPr>
          <p:cNvPr id="11" name="汇报信息">
            <a:extLst xmlns:a="http://schemas.openxmlformats.org/drawingml/2006/main">
              <a:ext uri="{FF2B5EF4-FFF2-40B4-BE49-F238E27FC236}">
                <a16:creationId xmlns:a16="http://schemas.microsoft.com/office/drawing/2014/main" id="{7CE951E8-A785-4759-8493-6CE65D43933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23900" y="59055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团队名称   /   汇报人   /   2026.XX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02 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章节眉题">
            <a:extLst xmlns:a="http://schemas.openxmlformats.org/drawingml/2006/main">
              <a:ext uri="{FF2B5EF4-FFF2-40B4-BE49-F238E27FC236}">
                <a16:creationId xmlns:a16="http://schemas.microsoft.com/office/drawing/2014/main" id="{815E3627-7F84-496E-85C3-F138EA3D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3" name="目录标题">
            <a:extLst xmlns:a="http://schemas.openxmlformats.org/drawingml/2006/main">
              <a:ext uri="{FF2B5EF4-FFF2-40B4-BE49-F238E27FC236}">
                <a16:creationId xmlns:a16="http://schemas.microsoft.com/office/drawing/2014/main" id="{83375878-4F8D-4F7A-86EA-6D8213EC40BC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1381125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汇报目录</a:t>
            </a:r>
          </a:p>
        </p:txBody>
      </p:sp>
      <p:sp>
        <p:nvSpPr>
          <p:cNvPr id="4" name="目录说明">
            <a:extLst xmlns:a="http://schemas.openxmlformats.org/drawingml/2006/main">
              <a:ext uri="{FF2B5EF4-FFF2-40B4-BE49-F238E27FC236}">
                <a16:creationId xmlns:a16="http://schemas.microsoft.com/office/drawing/2014/main" id="{0A5BAA27-E0D0-4F16-BD39-B84352FC385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22860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从问题出发，让方案落地。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57f9004644a41"/>
          <a:srcRect xmlns:a="http://schemas.openxmlformats.org/drawingml/2006/main" l="178" t="0" r="1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19500"/>
            <a:ext cx="1466850" cy="2362200"/>
          </a:xfrm>
          <a:prstGeom xmlns:a="http://schemas.openxmlformats.org/drawingml/2006/main" prst="rect">
            <a:avLst/>
          </a:prstGeom>
        </p:spPr>
      </p:pic>
      <p:sp>
        <p:nvSpPr>
          <p:cNvPr id="6" name="目录序号0">
            <a:extLst xmlns:a="http://schemas.openxmlformats.org/drawingml/2006/main">
              <a:ext uri="{FF2B5EF4-FFF2-40B4-BE49-F238E27FC236}">
                <a16:creationId xmlns:a16="http://schemas.microsoft.com/office/drawing/2014/main" id="{46638B11-CC00-4CE0-9A02-8B388E43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3144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目录项0">
            <a:extLst xmlns:a="http://schemas.openxmlformats.org/drawingml/2006/main">
              <a:ext uri="{FF2B5EF4-FFF2-40B4-BE49-F238E27FC236}">
                <a16:creationId xmlns:a16="http://schemas.microsoft.com/office/drawing/2014/main" id="{530CB020-BCDB-4C14-B9D7-B4684789FA0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667500" y="13239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8" name="目录英文0">
            <a:extLst xmlns:a="http://schemas.openxmlformats.org/drawingml/2006/main">
              <a:ext uri="{FF2B5EF4-FFF2-40B4-BE49-F238E27FC236}">
                <a16:creationId xmlns:a16="http://schemas.microsoft.com/office/drawing/2014/main" id="{16D4B256-513F-478C-A906-D624C067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BACKGROUND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19EE923A-A31C-4B0F-A96C-C166F1F2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14575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10" name="目录序号1">
            <a:extLst xmlns:a="http://schemas.openxmlformats.org/drawingml/2006/main">
              <a:ext uri="{FF2B5EF4-FFF2-40B4-BE49-F238E27FC236}">
                <a16:creationId xmlns:a16="http://schemas.microsoft.com/office/drawing/2014/main" id="{276C790B-DCAD-4EC4-85B1-626AB0FE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05075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目录项1">
            <a:extLst xmlns:a="http://schemas.openxmlformats.org/drawingml/2006/main">
              <a:ext uri="{FF2B5EF4-FFF2-40B4-BE49-F238E27FC236}">
                <a16:creationId xmlns:a16="http://schemas.microsoft.com/office/drawing/2014/main" id="{79E27136-4E03-46AC-9D1F-6ED3FED86AFC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667500" y="25146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设计方案</a:t>
            </a:r>
          </a:p>
        </p:txBody>
      </p:sp>
      <p:sp>
        <p:nvSpPr>
          <p:cNvPr id="12" name="目录英文1">
            <a:extLst xmlns:a="http://schemas.openxmlformats.org/drawingml/2006/main">
              <a:ext uri="{FF2B5EF4-FFF2-40B4-BE49-F238E27FC236}">
                <a16:creationId xmlns:a16="http://schemas.microsoft.com/office/drawing/2014/main" id="{D6E0D981-A537-465F-992F-B98479DF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38475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DESIGN</a:t>
            </a:r>
          </a:p>
        </p:txBody>
      </p:sp>
      <p:sp>
        <p:nvSpPr>
          <p:cNvPr id="13" name="分隔线">
            <a:extLst xmlns:a="http://schemas.openxmlformats.org/drawingml/2006/main">
              <a:ext uri="{FF2B5EF4-FFF2-40B4-BE49-F238E27FC236}">
                <a16:creationId xmlns:a16="http://schemas.microsoft.com/office/drawing/2014/main" id="{B8C46AA4-E752-4AB7-9A6F-B328E5D0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05200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14" name="目录序号2">
            <a:extLst xmlns:a="http://schemas.openxmlformats.org/drawingml/2006/main">
              <a:ext uri="{FF2B5EF4-FFF2-40B4-BE49-F238E27FC236}">
                <a16:creationId xmlns:a16="http://schemas.microsoft.com/office/drawing/2014/main" id="{D38249EF-AC52-4B94-B996-91804A7B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9570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目录项2">
            <a:extLst xmlns:a="http://schemas.openxmlformats.org/drawingml/2006/main">
              <a:ext uri="{FF2B5EF4-FFF2-40B4-BE49-F238E27FC236}">
                <a16:creationId xmlns:a16="http://schemas.microsoft.com/office/drawing/2014/main" id="{43CAD605-949E-40FA-A855-6092F764F5B7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667500" y="37052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16" name="目录英文2">
            <a:extLst xmlns:a="http://schemas.openxmlformats.org/drawingml/2006/main">
              <a:ext uri="{FF2B5EF4-FFF2-40B4-BE49-F238E27FC236}">
                <a16:creationId xmlns:a16="http://schemas.microsoft.com/office/drawing/2014/main" id="{989286FC-E4C4-4EF8-A79D-D6379FBD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VALIDATION</a:t>
            </a:r>
          </a:p>
        </p:txBody>
      </p:sp>
      <p:sp>
        <p:nvSpPr>
          <p:cNvPr id="17" name="分隔线">
            <a:extLst xmlns:a="http://schemas.openxmlformats.org/drawingml/2006/main">
              <a:ext uri="{FF2B5EF4-FFF2-40B4-BE49-F238E27FC236}">
                <a16:creationId xmlns:a16="http://schemas.microsoft.com/office/drawing/2014/main" id="{0C542FE4-BA3D-4697-AEAE-743C54C9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95825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18" name="目录序号3">
            <a:extLst xmlns:a="http://schemas.openxmlformats.org/drawingml/2006/main">
              <a:ext uri="{FF2B5EF4-FFF2-40B4-BE49-F238E27FC236}">
                <a16:creationId xmlns:a16="http://schemas.microsoft.com/office/drawing/2014/main" id="{87D2868A-364C-4C5A-9127-84C070A6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86325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目录项3">
            <a:extLst xmlns:a="http://schemas.openxmlformats.org/drawingml/2006/main">
              <a:ext uri="{FF2B5EF4-FFF2-40B4-BE49-F238E27FC236}">
                <a16:creationId xmlns:a16="http://schemas.microsoft.com/office/drawing/2014/main" id="{313F7F3B-08EA-4202-B271-593D44A50FC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667500" y="48958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计划与展望</a:t>
            </a:r>
          </a:p>
        </p:txBody>
      </p:sp>
      <p:sp>
        <p:nvSpPr>
          <p:cNvPr id="20" name="目录英文3">
            <a:extLst xmlns:a="http://schemas.openxmlformats.org/drawingml/2006/main">
              <a:ext uri="{FF2B5EF4-FFF2-40B4-BE49-F238E27FC236}">
                <a16:creationId xmlns:a16="http://schemas.microsoft.com/office/drawing/2014/main" id="{226E08F4-C0F7-4153-B8EF-7182243C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9725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NEXT STEPS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03 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章节品牌">
            <a:extLst xmlns:a="http://schemas.openxmlformats.org/drawingml/2006/main">
              <a:ext uri="{FF2B5EF4-FFF2-40B4-BE49-F238E27FC236}">
                <a16:creationId xmlns:a16="http://schemas.microsoft.com/office/drawing/2014/main" id="{13A0E423-35EF-46EA-B6AF-234D15EE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ROBOCON  /  PROJECT REPORT</a:t>
            </a:r>
          </a:p>
        </p:txBody>
      </p:sp>
      <p:sp>
        <p:nvSpPr>
          <p:cNvPr id="3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411EBB36-A5D7-4D6A-9151-E83CABC6E9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1685925"/>
            <a:ext cx="5238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850" b="1">
                <a:solidFill>
                  <a:srgbClr val="75C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0" b="1">
                <a:solidFill>
                  <a:srgbClr val="75C8D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176774D2-A676-4531-B884-6A01C8000F67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723900" y="37147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5" name="章节描述">
            <a:extLst xmlns:a="http://schemas.openxmlformats.org/drawingml/2006/main">
              <a:ext uri="{FF2B5EF4-FFF2-40B4-BE49-F238E27FC236}">
                <a16:creationId xmlns:a16="http://schemas.microsoft.com/office/drawing/2014/main" id="{DD063AD1-EC0F-42E0-AE06-D2C8BD3B23B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52475" y="479107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1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1EAF2"/>
                </a:solidFill>
                <a:latin typeface="Microsoft YaHei"/>
                <a:ea typeface="Microsoft YaHei"/>
                <a:cs typeface="Microsoft YaHei"/>
              </a:rPr>
              <a:t>在此填写本章节的一句话导语</a:t>
            </a:r>
          </a:p>
        </p:txBody>
      </p:sp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1B7C161C-B2FD-4087-89D0-8B36BCEB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BD00"/>
          </a:solidFill>
          <a:ln xmlns:a="http://schemas.openxmlformats.org/drawingml/2006/main" w="0">
            <a:noFill/>
          </a:ln>
        </p:spPr>
      </p:sp>
      <p:sp>
        <p:nvSpPr>
          <p:cNvPr id="7" name="分隔线">
            <a:extLst xmlns:a="http://schemas.openxmlformats.org/drawingml/2006/main">
              <a:ext uri="{FF2B5EF4-FFF2-40B4-BE49-F238E27FC236}">
                <a16:creationId xmlns:a16="http://schemas.microsoft.com/office/drawing/2014/main" id="{580CCF74-9F58-4309-B505-2EBFFEC4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19775"/>
            <a:ext cx="533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8" name="右侧色条">
            <a:extLst xmlns:a="http://schemas.openxmlformats.org/drawingml/2006/main">
              <a:ext uri="{FF2B5EF4-FFF2-40B4-BE49-F238E27FC236}">
                <a16:creationId xmlns:a16="http://schemas.microsoft.com/office/drawing/2014/main" id="{355DF907-747D-4A95-895B-65183704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33400"/>
            <a:ext cx="76200" cy="544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BC"/>
          </a:solidFill>
          <a:ln xmlns:a="http://schemas.openxmlformats.org/drawingml/2006/main" w="0">
            <a:noFill/>
          </a:ln>
        </p:spPr>
      </p:sp>
    </p:spTree>
  </p:cSld>
</p:sldLayout>
</file>

<file path=ppt/slideLayouts/slideLayout5.xml><?xml version="1.0" encoding="utf-8"?>
<p:sldLayout xmlns:p="http://schemas.openxmlformats.org/presentationml/2006/main">
  <p:cSld name="04 项目概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CA5E77E-7306-43C9-9ABB-722DC9D4D6E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</a:p>
        </p:txBody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6C377993-D063-4939-9180-40CAEED9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4" name="核心陈述">
            <a:extLst xmlns:a="http://schemas.openxmlformats.org/drawingml/2006/main">
              <a:ext uri="{FF2B5EF4-FFF2-40B4-BE49-F238E27FC236}">
                <a16:creationId xmlns:a16="http://schemas.microsoft.com/office/drawing/2014/main" id="{CB75220D-60E5-4E0D-8510-1F4734FD7F6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2562225"/>
            <a:ext cx="5095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用一句话</a:t>
            </a:r>
          </a:p>
          <a:p xmlns:a="http://schemas.openxmlformats.org/drawingml/2006/main">
            <a:pPr algn="l">
              <a:def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说明项目价值</a:t>
            </a:r>
          </a:p>
        </p:txBody>
      </p:sp>
      <p:sp>
        <p:nvSpPr>
          <p:cNvPr id="5" name="项目简介">
            <a:extLst xmlns:a="http://schemas.openxmlformats.org/drawingml/2006/main">
              <a:ext uri="{FF2B5EF4-FFF2-40B4-BE49-F238E27FC236}">
                <a16:creationId xmlns:a16="http://schemas.microsoft.com/office/drawing/2014/main" id="{67C1149A-3394-4BCE-8176-356AFCF5FA0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23900" y="4457700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在此简要描述项目的应用场景、</a:t>
            </a:r>
          </a:p>
          <a:p xmlns:a="http://schemas.openxmlformats.org/drawingml/2006/main">
            <a:pPr algn="l"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服务对象与预期价值。</a:t>
            </a:r>
          </a:p>
        </p:txBody>
      </p:sp>
      <p:sp>
        <p:nvSpPr>
          <p:cNvPr id="6" name="项目序号0">
            <a:extLst xmlns:a="http://schemas.openxmlformats.org/drawingml/2006/main">
              <a:ext uri="{FF2B5EF4-FFF2-40B4-BE49-F238E27FC236}">
                <a16:creationId xmlns:a16="http://schemas.microsoft.com/office/drawing/2014/main" id="{F7D68663-8E44-4ADF-B4F4-A4643B29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764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项目子标题0">
            <a:extLst xmlns:a="http://schemas.openxmlformats.org/drawingml/2006/main">
              <a:ext uri="{FF2B5EF4-FFF2-40B4-BE49-F238E27FC236}">
                <a16:creationId xmlns:a16="http://schemas.microsoft.com/office/drawing/2014/main" id="{4A64528C-FAC5-4504-BB1A-74E9711D9F2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372350" y="225742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8" name="项目内容0">
            <a:extLst xmlns:a="http://schemas.openxmlformats.org/drawingml/2006/main">
              <a:ext uri="{FF2B5EF4-FFF2-40B4-BE49-F238E27FC236}">
                <a16:creationId xmlns:a16="http://schemas.microsoft.com/office/drawing/2014/main" id="{01C3CDFC-6DCE-4830-8A4C-18930F5B0A7B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7372350" y="272415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说明当前场景与已有条件。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F6E7A847-F7C3-4601-B144-618A01DD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670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10" name="项目序号1">
            <a:extLst xmlns:a="http://schemas.openxmlformats.org/drawingml/2006/main">
              <a:ext uri="{FF2B5EF4-FFF2-40B4-BE49-F238E27FC236}">
                <a16:creationId xmlns:a16="http://schemas.microsoft.com/office/drawing/2014/main" id="{305B0357-2C82-4E2C-9329-DEDF562B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480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项目子标题1">
            <a:extLst xmlns:a="http://schemas.openxmlformats.org/drawingml/2006/main">
              <a:ext uri="{FF2B5EF4-FFF2-40B4-BE49-F238E27FC236}">
                <a16:creationId xmlns:a16="http://schemas.microsoft.com/office/drawing/2014/main" id="{0C3CD12F-1391-4D1D-8303-63ACCA588C3C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372350" y="3429000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关键问题</a:t>
            </a:r>
          </a:p>
        </p:txBody>
      </p:sp>
      <p:sp>
        <p:nvSpPr>
          <p:cNvPr id="12" name="项目内容1">
            <a:extLst xmlns:a="http://schemas.openxmlformats.org/drawingml/2006/main">
              <a:ext uri="{FF2B5EF4-FFF2-40B4-BE49-F238E27FC236}">
                <a16:creationId xmlns:a16="http://schemas.microsoft.com/office/drawing/2014/main" id="{F892BB37-7DC5-4B7B-BC3A-816F28283B18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372350" y="3895725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描述需要解决的核心问题。</a:t>
            </a:r>
          </a:p>
        </p:txBody>
      </p:sp>
      <p:sp>
        <p:nvSpPr>
          <p:cNvPr id="13" name="分隔线">
            <a:extLst xmlns:a="http://schemas.openxmlformats.org/drawingml/2006/main">
              <a:ext uri="{FF2B5EF4-FFF2-40B4-BE49-F238E27FC236}">
                <a16:creationId xmlns:a16="http://schemas.microsoft.com/office/drawing/2014/main" id="{13B41324-81EB-4AC9-BA1A-B71FB927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14" name="项目序号2">
            <a:extLst xmlns:a="http://schemas.openxmlformats.org/drawingml/2006/main">
              <a:ext uri="{FF2B5EF4-FFF2-40B4-BE49-F238E27FC236}">
                <a16:creationId xmlns:a16="http://schemas.microsoft.com/office/drawing/2014/main" id="{49399A4D-3EDD-45B6-876F-7893029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96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项目子标题2">
            <a:extLst xmlns:a="http://schemas.openxmlformats.org/drawingml/2006/main">
              <a:ext uri="{FF2B5EF4-FFF2-40B4-BE49-F238E27FC236}">
                <a16:creationId xmlns:a16="http://schemas.microsoft.com/office/drawing/2014/main" id="{CCE132BE-E34E-4AF6-9E8F-AD4713FCD71B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372350" y="46005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16" name="项目内容2">
            <a:extLst xmlns:a="http://schemas.openxmlformats.org/drawingml/2006/main">
              <a:ext uri="{FF2B5EF4-FFF2-40B4-BE49-F238E27FC236}">
                <a16:creationId xmlns:a16="http://schemas.microsoft.com/office/drawing/2014/main" id="{435A71D7-DC10-405A-8793-9E23E7B8235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372350" y="506730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明确可衡量的目标与交付结果。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05 左图右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498BEEE2-5414-4BBF-A5E1-C26B9F44B88F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方案展示</a:t>
            </a:r>
          </a:p>
        </p:txBody>
      </p:sp>
      <p:sp>
        <p:nvSpPr>
          <p:cNvPr id="3" name="项目图片">
            <a:extLst xmlns:a="http://schemas.openxmlformats.org/drawingml/2006/main">
              <a:ext uri="{FF2B5EF4-FFF2-40B4-BE49-F238E27FC236}">
                <a16:creationId xmlns:a16="http://schemas.microsoft.com/office/drawing/2014/main" id="{32FA2FBA-E30A-47F2-A048-D09B4D0D46C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685800" y="2047875"/>
            <a:ext cx="6248400" cy="3514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项目图片 / 结构示意图</a:t>
            </a:r>
          </a:p>
        </p:txBody>
      </p:sp>
      <p:sp>
        <p:nvSpPr>
          <p:cNvPr id="4" name="图注">
            <a:extLst xmlns:a="http://schemas.openxmlformats.org/drawingml/2006/main">
              <a:ext uri="{FF2B5EF4-FFF2-40B4-BE49-F238E27FC236}">
                <a16:creationId xmlns:a16="http://schemas.microsoft.com/office/drawing/2014/main" id="{1871505B-56D5-4C1B-ABF6-1923F9375A2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5743575"/>
            <a:ext cx="624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图 01  ·  在此填写图片说明</a:t>
            </a:r>
          </a:p>
        </p:txBody>
      </p:sp>
      <p:sp>
        <p:nvSpPr>
          <p:cNvPr id="5" name="方案亮点">
            <a:extLst xmlns:a="http://schemas.openxmlformats.org/drawingml/2006/main">
              <a:ext uri="{FF2B5EF4-FFF2-40B4-BE49-F238E27FC236}">
                <a16:creationId xmlns:a16="http://schemas.microsoft.com/office/drawing/2014/main" id="{C73C8316-E853-4313-A21C-BBA551BB50BF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524750" y="2276475"/>
            <a:ext cx="398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核心设计亮点</a:t>
            </a:r>
          </a:p>
        </p:txBody>
      </p:sp>
      <p:sp>
        <p:nvSpPr>
          <p:cNvPr id="6" name="方案描述">
            <a:extLst xmlns:a="http://schemas.openxmlformats.org/drawingml/2006/main">
              <a:ext uri="{FF2B5EF4-FFF2-40B4-BE49-F238E27FC236}">
                <a16:creationId xmlns:a16="http://schemas.microsoft.com/office/drawing/2014/main" id="{823C6501-614E-4A80-BB86-0365E06DF839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7524750" y="3000375"/>
            <a:ext cx="3981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在此说明图片中的关键设计，</a:t>
            </a:r>
          </a:p>
          <a:p xmlns:a="http://schemas.openxmlformats.org/drawingml/2006/main">
            <a:pPr algn="l">
              <a:defRPr sz="180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以及它如何回应项目目标。</a:t>
            </a:r>
          </a:p>
        </p:txBody>
      </p:sp>
      <p:sp>
        <p:nvSpPr>
          <p:cNvPr id="7" name="分隔线">
            <a:extLst xmlns:a="http://schemas.openxmlformats.org/drawingml/2006/main">
              <a:ext uri="{FF2B5EF4-FFF2-40B4-BE49-F238E27FC236}">
                <a16:creationId xmlns:a16="http://schemas.microsoft.com/office/drawing/2014/main" id="{35403C46-BDC1-4564-B7AA-8140A51F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95775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8" name="方案要点">
            <a:extLst xmlns:a="http://schemas.openxmlformats.org/drawingml/2006/main">
              <a:ext uri="{FF2B5EF4-FFF2-40B4-BE49-F238E27FC236}">
                <a16:creationId xmlns:a16="http://schemas.microsoft.com/office/drawing/2014/main" id="{3673D751-5751-4FD8-9AB4-61C2167079B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524750" y="4552950"/>
            <a:ext cx="39814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01  结构或功能特点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02  关键优势与应用价值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06 双栏对比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2E6B412-751C-4914-B61A-89F542066B5A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方案对比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6EFFCE51-8A6D-4A74-BB0C-0FA77E069A9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在相同维度下比较方案，突出取舍依据。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E89EF72A-F686-4B22-BE47-DD6B2C8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9525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5" name="方案标识A">
            <a:extLst xmlns:a="http://schemas.openxmlformats.org/drawingml/2006/main">
              <a:ext uri="{FF2B5EF4-FFF2-40B4-BE49-F238E27FC236}">
                <a16:creationId xmlns:a16="http://schemas.microsoft.com/office/drawing/2014/main" id="{8D141CDF-E17F-42D0-95EB-AC9BF795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" name="方案名称A">
            <a:extLst xmlns:a="http://schemas.openxmlformats.org/drawingml/2006/main">
              <a:ext uri="{FF2B5EF4-FFF2-40B4-BE49-F238E27FC236}">
                <a16:creationId xmlns:a16="http://schemas.microsoft.com/office/drawing/2014/main" id="{AE47D530-C3F8-4067-8AAE-8C861B96F35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1695450" y="24098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方案一</a:t>
            </a:r>
          </a:p>
        </p:txBody>
      </p:sp>
      <p:sp>
        <p:nvSpPr>
          <p:cNvPr id="7" name="分隔线">
            <a:extLst xmlns:a="http://schemas.openxmlformats.org/drawingml/2006/main">
              <a:ext uri="{FF2B5EF4-FFF2-40B4-BE49-F238E27FC236}">
                <a16:creationId xmlns:a16="http://schemas.microsoft.com/office/drawing/2014/main" id="{A55E63FA-7691-4C40-A9C9-115B1852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480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B"/>
          </a:solidFill>
          <a:ln xmlns:a="http://schemas.openxmlformats.org/drawingml/2006/main" w="0">
            <a:noFill/>
          </a:ln>
        </p:spPr>
      </p:sp>
      <p:sp>
        <p:nvSpPr>
          <p:cNvPr id="8" name="A维度0">
            <a:extLst xmlns:a="http://schemas.openxmlformats.org/drawingml/2006/main">
              <a:ext uri="{FF2B5EF4-FFF2-40B4-BE49-F238E27FC236}">
                <a16:creationId xmlns:a16="http://schemas.microsoft.com/office/drawing/2014/main" id="{8D835C67-012A-4CCD-9E00-079FCDAE6FE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34956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设计思路</a:t>
            </a:r>
          </a:p>
        </p:txBody>
      </p:sp>
      <p:sp>
        <p:nvSpPr>
          <p:cNvPr id="9" name="A内容0">
            <a:extLst xmlns:a="http://schemas.openxmlformats.org/drawingml/2006/main">
              <a:ext uri="{FF2B5EF4-FFF2-40B4-BE49-F238E27FC236}">
                <a16:creationId xmlns:a16="http://schemas.microsoft.com/office/drawing/2014/main" id="{701F322F-E45C-4B35-B714-D9696312ABB0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095500" y="349567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填写主要原理与实现方式。</a:t>
            </a:r>
          </a:p>
        </p:txBody>
      </p:sp>
      <p:sp>
        <p:nvSpPr>
          <p:cNvPr id="10" name="A维度1">
            <a:extLst xmlns:a="http://schemas.openxmlformats.org/drawingml/2006/main">
              <a:ext uri="{FF2B5EF4-FFF2-40B4-BE49-F238E27FC236}">
                <a16:creationId xmlns:a16="http://schemas.microsoft.com/office/drawing/2014/main" id="{41836F45-DB9D-4076-BF71-8BA449CE5491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42291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11" name="A内容1">
            <a:extLst xmlns:a="http://schemas.openxmlformats.org/drawingml/2006/main">
              <a:ext uri="{FF2B5EF4-FFF2-40B4-BE49-F238E27FC236}">
                <a16:creationId xmlns:a16="http://schemas.microsoft.com/office/drawing/2014/main" id="{6AE14FBC-72EA-4396-88D5-FCF1BD419C4F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422910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填写适用条件与使用边界。</a:t>
            </a:r>
          </a:p>
        </p:txBody>
      </p:sp>
      <p:sp>
        <p:nvSpPr>
          <p:cNvPr id="12" name="A维度2">
            <a:extLst xmlns:a="http://schemas.openxmlformats.org/drawingml/2006/main">
              <a:ext uri="{FF2B5EF4-FFF2-40B4-BE49-F238E27FC236}">
                <a16:creationId xmlns:a16="http://schemas.microsoft.com/office/drawing/2014/main" id="{E3CEF644-D7FD-4768-A723-07C71CD4BFAA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685800" y="49625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评估结论</a:t>
            </a:r>
          </a:p>
        </p:txBody>
      </p:sp>
      <p:sp>
        <p:nvSpPr>
          <p:cNvPr id="13" name="A内容2">
            <a:extLst xmlns:a="http://schemas.openxmlformats.org/drawingml/2006/main">
              <a:ext uri="{FF2B5EF4-FFF2-40B4-BE49-F238E27FC236}">
                <a16:creationId xmlns:a16="http://schemas.microsoft.com/office/drawing/2014/main" id="{BA0A888C-A8B9-40E8-AC18-10ECE28D8129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2095500" y="496252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填写优点、限制与选择依据。</a:t>
            </a:r>
          </a:p>
        </p:txBody>
      </p:sp>
      <p:sp>
        <p:nvSpPr>
          <p:cNvPr id="14" name="方案标识B">
            <a:extLst xmlns:a="http://schemas.openxmlformats.org/drawingml/2006/main">
              <a:ext uri="{FF2B5EF4-FFF2-40B4-BE49-F238E27FC236}">
                <a16:creationId xmlns:a16="http://schemas.microsoft.com/office/drawing/2014/main" id="{2377B3B2-F747-4878-B1E1-3BA337A9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" name="方案名称B">
            <a:extLst xmlns:a="http://schemas.openxmlformats.org/drawingml/2006/main">
              <a:ext uri="{FF2B5EF4-FFF2-40B4-BE49-F238E27FC236}">
                <a16:creationId xmlns:a16="http://schemas.microsoft.com/office/drawing/2014/main" id="{91F645C5-FC2A-4939-8F06-54B56452B3AA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7715250" y="24098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方案二</a:t>
            </a:r>
          </a:p>
        </p:txBody>
      </p:sp>
      <p:sp>
        <p:nvSpPr>
          <p:cNvPr id="16" name="分隔线">
            <a:extLst xmlns:a="http://schemas.openxmlformats.org/drawingml/2006/main">
              <a:ext uri="{FF2B5EF4-FFF2-40B4-BE49-F238E27FC236}">
                <a16:creationId xmlns:a16="http://schemas.microsoft.com/office/drawing/2014/main" id="{7DEBB54E-8BA3-46EF-B33C-F71E278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52775"/>
            <a:ext cx="480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17" name="B维度0">
            <a:extLst xmlns:a="http://schemas.openxmlformats.org/drawingml/2006/main">
              <a:ext uri="{FF2B5EF4-FFF2-40B4-BE49-F238E27FC236}">
                <a16:creationId xmlns:a16="http://schemas.microsoft.com/office/drawing/2014/main" id="{74E053A4-6D6B-45A9-B5ED-3259F5219479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6705600" y="34956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设计思路</a:t>
            </a:r>
          </a:p>
        </p:txBody>
      </p:sp>
      <p:sp>
        <p:nvSpPr>
          <p:cNvPr id="18" name="B内容0">
            <a:extLst xmlns:a="http://schemas.openxmlformats.org/drawingml/2006/main">
              <a:ext uri="{FF2B5EF4-FFF2-40B4-BE49-F238E27FC236}">
                <a16:creationId xmlns:a16="http://schemas.microsoft.com/office/drawing/2014/main" id="{4D059341-5432-45D3-B69A-52046AA3662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15300" y="349567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填写主要原理与实现方式。</a:t>
            </a:r>
          </a:p>
        </p:txBody>
      </p:sp>
      <p:sp>
        <p:nvSpPr>
          <p:cNvPr id="19" name="B维度1">
            <a:extLst xmlns:a="http://schemas.openxmlformats.org/drawingml/2006/main">
              <a:ext uri="{FF2B5EF4-FFF2-40B4-BE49-F238E27FC236}">
                <a16:creationId xmlns:a16="http://schemas.microsoft.com/office/drawing/2014/main" id="{F1BD2E27-54D2-4BC5-8706-B496BA81B3B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705600" y="42291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20" name="B内容1">
            <a:extLst xmlns:a="http://schemas.openxmlformats.org/drawingml/2006/main">
              <a:ext uri="{FF2B5EF4-FFF2-40B4-BE49-F238E27FC236}">
                <a16:creationId xmlns:a16="http://schemas.microsoft.com/office/drawing/2014/main" id="{88CC7E01-C17E-48B7-86B6-3A8B03AC223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8115300" y="422910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填写适用条件与使用边界。</a:t>
            </a:r>
          </a:p>
        </p:txBody>
      </p:sp>
      <p:sp>
        <p:nvSpPr>
          <p:cNvPr id="21" name="B维度2">
            <a:extLst xmlns:a="http://schemas.openxmlformats.org/drawingml/2006/main">
              <a:ext uri="{FF2B5EF4-FFF2-40B4-BE49-F238E27FC236}">
                <a16:creationId xmlns:a16="http://schemas.microsoft.com/office/drawing/2014/main" id="{08DE4D59-52FA-4583-8529-DC4B453EED49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705600" y="49625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评估结论</a:t>
            </a:r>
          </a:p>
        </p:txBody>
      </p:sp>
      <p:sp>
        <p:nvSpPr>
          <p:cNvPr id="22" name="B内容2">
            <a:extLst xmlns:a="http://schemas.openxmlformats.org/drawingml/2006/main">
              <a:ext uri="{FF2B5EF4-FFF2-40B4-BE49-F238E27FC236}">
                <a16:creationId xmlns:a16="http://schemas.microsoft.com/office/drawing/2014/main" id="{CEF268A6-49AA-4A15-8C04-CAD5E36AFF1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115300" y="496252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填写优点、限制与选择依据。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07 三栏要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8D57E8D-E03D-44F9-9BAD-60B38131ADF0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核心设计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ED51BC76-9DDC-4774-82C4-4C74B711529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用三个关键模块，清晰表达方案结构。</a:t>
            </a:r>
          </a:p>
        </p:txBody>
      </p:sp>
      <p:sp>
        <p:nvSpPr>
          <p:cNvPr id="4" name="模块编号0">
            <a:extLst xmlns:a="http://schemas.openxmlformats.org/drawingml/2006/main">
              <a:ext uri="{FF2B5EF4-FFF2-40B4-BE49-F238E27FC236}">
                <a16:creationId xmlns:a16="http://schemas.microsoft.com/office/drawing/2014/main" id="{81075904-A377-4139-8D11-590C4DF3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分隔线">
            <a:extLst xmlns:a="http://schemas.openxmlformats.org/drawingml/2006/main">
              <a:ext uri="{FF2B5EF4-FFF2-40B4-BE49-F238E27FC236}">
                <a16:creationId xmlns:a16="http://schemas.microsoft.com/office/drawing/2014/main" id="{0495E069-D246-4053-B8F9-C454C466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35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B"/>
          </a:solidFill>
          <a:ln xmlns:a="http://schemas.openxmlformats.org/drawingml/2006/main" w="0">
            <a:noFill/>
          </a:ln>
        </p:spPr>
      </p:sp>
      <p:sp>
        <p:nvSpPr>
          <p:cNvPr id="6" name="模块标题0">
            <a:extLst xmlns:a="http://schemas.openxmlformats.org/drawingml/2006/main">
              <a:ext uri="{FF2B5EF4-FFF2-40B4-BE49-F238E27FC236}">
                <a16:creationId xmlns:a16="http://schemas.microsoft.com/office/drawing/2014/main" id="{167FD017-A870-4B6C-BC7C-4E3BB4FBE1E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4000500"/>
            <a:ext cx="335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机械结构</a:t>
            </a:r>
          </a:p>
        </p:txBody>
      </p:sp>
      <p:sp>
        <p:nvSpPr>
          <p:cNvPr id="7" name="模块说明0">
            <a:extLst xmlns:a="http://schemas.openxmlformats.org/drawingml/2006/main">
              <a:ext uri="{FF2B5EF4-FFF2-40B4-BE49-F238E27FC236}">
                <a16:creationId xmlns:a16="http://schemas.microsoft.com/office/drawing/2014/main" id="{4796E461-1F73-4788-A021-1730D4F6A101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47053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结构组成与运动方式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关键尺寸或设计约束</a:t>
            </a:r>
          </a:p>
        </p:txBody>
      </p:sp>
      <p:sp>
        <p:nvSpPr>
          <p:cNvPr id="8" name="模块编号1">
            <a:extLst xmlns:a="http://schemas.openxmlformats.org/drawingml/2006/main">
              <a:ext uri="{FF2B5EF4-FFF2-40B4-BE49-F238E27FC236}">
                <a16:creationId xmlns:a16="http://schemas.microsoft.com/office/drawing/2014/main" id="{C7E829AA-321E-4ABE-BD3A-554BA8E0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156CE457-2773-4BB8-9883-3238CE3D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57600"/>
            <a:ext cx="335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BC"/>
          </a:solidFill>
          <a:ln xmlns:a="http://schemas.openxmlformats.org/drawingml/2006/main" w="0">
            <a:noFill/>
          </a:ln>
        </p:spPr>
      </p:sp>
      <p:sp>
        <p:nvSpPr>
          <p:cNvPr id="10" name="模块标题1">
            <a:extLst xmlns:a="http://schemas.openxmlformats.org/drawingml/2006/main">
              <a:ext uri="{FF2B5EF4-FFF2-40B4-BE49-F238E27FC236}">
                <a16:creationId xmlns:a16="http://schemas.microsoft.com/office/drawing/2014/main" id="{7DB06764-7F7F-46CF-90B5-3037C3BA3F64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4419600" y="4000500"/>
            <a:ext cx="335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控制系统</a:t>
            </a:r>
          </a:p>
        </p:txBody>
      </p:sp>
      <p:sp>
        <p:nvSpPr>
          <p:cNvPr id="11" name="模块说明1">
            <a:extLst xmlns:a="http://schemas.openxmlformats.org/drawingml/2006/main">
              <a:ext uri="{FF2B5EF4-FFF2-40B4-BE49-F238E27FC236}">
                <a16:creationId xmlns:a16="http://schemas.microsoft.com/office/drawing/2014/main" id="{25B0B44D-0982-4EA9-95B6-2E25A617A34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4419600" y="47053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控制策略与执行流程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传感器和反馈机制</a:t>
            </a:r>
          </a:p>
        </p:txBody>
      </p:sp>
      <p:sp>
        <p:nvSpPr>
          <p:cNvPr id="12" name="模块编号2">
            <a:extLst xmlns:a="http://schemas.openxmlformats.org/drawingml/2006/main">
              <a:ext uri="{FF2B5EF4-FFF2-40B4-BE49-F238E27FC236}">
                <a16:creationId xmlns:a16="http://schemas.microsoft.com/office/drawing/2014/main" id="{DA46B308-010D-4CA1-A3B4-37082B94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分隔线">
            <a:extLst xmlns:a="http://schemas.openxmlformats.org/drawingml/2006/main">
              <a:ext uri="{FF2B5EF4-FFF2-40B4-BE49-F238E27FC236}">
                <a16:creationId xmlns:a16="http://schemas.microsoft.com/office/drawing/2014/main" id="{57C05B63-A80B-4550-854D-77932FEA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57600"/>
            <a:ext cx="335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14" name="模块标题2">
            <a:extLst xmlns:a="http://schemas.openxmlformats.org/drawingml/2006/main">
              <a:ext uri="{FF2B5EF4-FFF2-40B4-BE49-F238E27FC236}">
                <a16:creationId xmlns:a16="http://schemas.microsoft.com/office/drawing/2014/main" id="{A34C7B5B-0305-4644-9846-BA6CC3FFA09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153400" y="4000500"/>
            <a:ext cx="335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算法策略</a:t>
            </a:r>
          </a:p>
        </p:txBody>
      </p:sp>
      <p:sp>
        <p:nvSpPr>
          <p:cNvPr id="15" name="模块说明2">
            <a:extLst xmlns:a="http://schemas.openxmlformats.org/drawingml/2006/main">
              <a:ext uri="{FF2B5EF4-FFF2-40B4-BE49-F238E27FC236}">
                <a16:creationId xmlns:a16="http://schemas.microsoft.com/office/drawing/2014/main" id="{A40E5031-D960-40B4-8849-5D888EF84611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153400" y="47053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任务规划与决策逻辑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关键算法和优化方向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08 流程与里程碑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D5DD870-6735-4337-A778-3EAC73BB5CC8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实施流程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465B23E8-8A32-41C9-A24B-9E907D3E3E9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从需求定义到测试验证，形成完整的工作闭环。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2D11B607-234C-4208-B385-B1B7CB24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28975"/>
            <a:ext cx="1040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5" name="流程编号0">
            <a:extLst xmlns:a="http://schemas.openxmlformats.org/drawingml/2006/main">
              <a:ext uri="{FF2B5EF4-FFF2-40B4-BE49-F238E27FC236}">
                <a16:creationId xmlns:a16="http://schemas.microsoft.com/office/drawing/2014/main" id="{FAB48E3E-9FF2-46D3-83DC-17AEB98D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714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流程节点0">
            <a:extLst xmlns:a="http://schemas.openxmlformats.org/drawingml/2006/main">
              <a:ext uri="{FF2B5EF4-FFF2-40B4-BE49-F238E27FC236}">
                <a16:creationId xmlns:a16="http://schemas.microsoft.com/office/drawing/2014/main" id="{E8EC1ACA-4BB2-4495-98B3-6C8CA7C0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B"/>
          </a:solidFill>
          <a:ln xmlns:a="http://schemas.openxmlformats.org/drawingml/2006/main" w="0">
            <a:noFill/>
          </a:ln>
        </p:spPr>
      </p:sp>
      <p:sp>
        <p:nvSpPr>
          <p:cNvPr id="7" name="流程标题0">
            <a:extLst xmlns:a="http://schemas.openxmlformats.org/drawingml/2006/main">
              <a:ext uri="{FF2B5EF4-FFF2-40B4-BE49-F238E27FC236}">
                <a16:creationId xmlns:a16="http://schemas.microsoft.com/office/drawing/2014/main" id="{303D454E-34F3-4031-AE31-356F62F346B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8" name="流程描述0">
            <a:extLst xmlns:a="http://schemas.openxmlformats.org/drawingml/2006/main">
              <a:ext uri="{FF2B5EF4-FFF2-40B4-BE49-F238E27FC236}">
                <a16:creationId xmlns:a16="http://schemas.microsoft.com/office/drawing/2014/main" id="{629A8647-789A-44AB-92CD-D43F1DC9F70B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场景与任务梳理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明确评价指标</a:t>
            </a:r>
          </a:p>
        </p:txBody>
      </p:sp>
      <p:sp>
        <p:nvSpPr>
          <p:cNvPr id="9" name="流程编号1">
            <a:extLst xmlns:a="http://schemas.openxmlformats.org/drawingml/2006/main">
              <a:ext uri="{FF2B5EF4-FFF2-40B4-BE49-F238E27FC236}">
                <a16:creationId xmlns:a16="http://schemas.microsoft.com/office/drawing/2014/main" id="{2D30586D-5B1D-4DCE-8BE6-FA99C72E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62200"/>
            <a:ext cx="1714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流程节点1">
            <a:extLst xmlns:a="http://schemas.openxmlformats.org/drawingml/2006/main">
              <a:ext uri="{FF2B5EF4-FFF2-40B4-BE49-F238E27FC236}">
                <a16:creationId xmlns:a16="http://schemas.microsoft.com/office/drawing/2014/main" id="{1A4B7319-18A8-4FEC-BE3C-C046B0E4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BC"/>
          </a:solidFill>
          <a:ln xmlns:a="http://schemas.openxmlformats.org/drawingml/2006/main" w="0">
            <a:noFill/>
          </a:ln>
        </p:spPr>
      </p:sp>
      <p:sp>
        <p:nvSpPr>
          <p:cNvPr id="11" name="流程标题1">
            <a:extLst xmlns:a="http://schemas.openxmlformats.org/drawingml/2006/main">
              <a:ext uri="{FF2B5EF4-FFF2-40B4-BE49-F238E27FC236}">
                <a16:creationId xmlns:a16="http://schemas.microsoft.com/office/drawing/2014/main" id="{CFA681A2-5056-4F48-A61D-49E3F48DDB66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48615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流程描述1">
            <a:extLst xmlns:a="http://schemas.openxmlformats.org/drawingml/2006/main">
              <a:ext uri="{FF2B5EF4-FFF2-40B4-BE49-F238E27FC236}">
                <a16:creationId xmlns:a16="http://schemas.microsoft.com/office/drawing/2014/main" id="{94636C8F-E07D-477D-A134-E2F246DE3DA5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348615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结构与系统设计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确定技术路线</a:t>
            </a:r>
          </a:p>
        </p:txBody>
      </p:sp>
      <p:sp>
        <p:nvSpPr>
          <p:cNvPr id="13" name="流程编号2">
            <a:extLst xmlns:a="http://schemas.openxmlformats.org/drawingml/2006/main">
              <a:ext uri="{FF2B5EF4-FFF2-40B4-BE49-F238E27FC236}">
                <a16:creationId xmlns:a16="http://schemas.microsoft.com/office/drawing/2014/main" id="{E6045572-2A05-4D07-AEEC-336DD58A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1714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流程节点2">
            <a:extLst xmlns:a="http://schemas.openxmlformats.org/drawingml/2006/main">
              <a:ext uri="{FF2B5EF4-FFF2-40B4-BE49-F238E27FC236}">
                <a16:creationId xmlns:a16="http://schemas.microsoft.com/office/drawing/2014/main" id="{3B8BC2F4-7E5E-4CA0-BEB3-CF1E4BFC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15" name="流程标题2">
            <a:extLst xmlns:a="http://schemas.openxmlformats.org/drawingml/2006/main">
              <a:ext uri="{FF2B5EF4-FFF2-40B4-BE49-F238E27FC236}">
                <a16:creationId xmlns:a16="http://schemas.microsoft.com/office/drawing/2014/main" id="{47615FBD-F5BA-4DA7-BF65-70DB229278D3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28650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样机实现</a:t>
            </a:r>
          </a:p>
        </p:txBody>
      </p:sp>
      <p:sp>
        <p:nvSpPr>
          <p:cNvPr id="16" name="流程描述2">
            <a:extLst xmlns:a="http://schemas.openxmlformats.org/drawingml/2006/main">
              <a:ext uri="{FF2B5EF4-FFF2-40B4-BE49-F238E27FC236}">
                <a16:creationId xmlns:a16="http://schemas.microsoft.com/office/drawing/2014/main" id="{732F0C3F-3E3F-4AF8-997F-0AA764CDA4F8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628650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加工装配与开发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完成系统集成</a:t>
            </a:r>
          </a:p>
        </p:txBody>
      </p:sp>
      <p:sp>
        <p:nvSpPr>
          <p:cNvPr id="17" name="流程编号3">
            <a:extLst xmlns:a="http://schemas.openxmlformats.org/drawingml/2006/main">
              <a:ext uri="{FF2B5EF4-FFF2-40B4-BE49-F238E27FC236}">
                <a16:creationId xmlns:a16="http://schemas.microsoft.com/office/drawing/2014/main" id="{ABBD45DC-A919-4EE2-BFAD-5821A759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1714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流程节点3">
            <a:extLst xmlns:a="http://schemas.openxmlformats.org/drawingml/2006/main">
              <a:ext uri="{FF2B5EF4-FFF2-40B4-BE49-F238E27FC236}">
                <a16:creationId xmlns:a16="http://schemas.microsoft.com/office/drawing/2014/main" id="{8008921C-A2F2-4B5E-93CC-F16AFF3D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BD00"/>
          </a:solidFill>
          <a:ln xmlns:a="http://schemas.openxmlformats.org/drawingml/2006/main" w="0">
            <a:noFill/>
          </a:ln>
        </p:spPr>
      </p:sp>
      <p:sp>
        <p:nvSpPr>
          <p:cNvPr id="19" name="流程标题3">
            <a:extLst xmlns:a="http://schemas.openxmlformats.org/drawingml/2006/main">
              <a:ext uri="{FF2B5EF4-FFF2-40B4-BE49-F238E27FC236}">
                <a16:creationId xmlns:a16="http://schemas.microsoft.com/office/drawing/2014/main" id="{0957670D-7255-4170-AB1F-8BE962725A1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908685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测试迭代</a:t>
            </a:r>
          </a:p>
        </p:txBody>
      </p:sp>
      <p:sp>
        <p:nvSpPr>
          <p:cNvPr id="20" name="流程描述3">
            <a:extLst xmlns:a="http://schemas.openxmlformats.org/drawingml/2006/main">
              <a:ext uri="{FF2B5EF4-FFF2-40B4-BE49-F238E27FC236}">
                <a16:creationId xmlns:a16="http://schemas.microsoft.com/office/drawing/2014/main" id="{275E7F29-9D8F-46F7-AF40-E4F891478549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908685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实验验证与复盘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持续优化方案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09 关键数据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64D1D67-A69E-4992-A2F4-F8FE84CA1164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823CEB1C-AB3E-4B1A-9732-1151A00F494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示例数据 · 请替换为实际测试结果</a:t>
            </a:r>
          </a:p>
        </p:txBody>
      </p:sp>
      <p:sp>
        <p:nvSpPr>
          <p:cNvPr id="4" name="指标数值0">
            <a:extLst xmlns:a="http://schemas.openxmlformats.org/drawingml/2006/main">
              <a:ext uri="{FF2B5EF4-FFF2-40B4-BE49-F238E27FC236}">
                <a16:creationId xmlns:a16="http://schemas.microsoft.com/office/drawing/2014/main" id="{FA1A7231-881F-4DB8-8FEB-249259F4881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2552700"/>
            <a:ext cx="25431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92</a:t>
            </a:r>
          </a:p>
        </p:txBody>
      </p:sp>
      <p:sp>
        <p:nvSpPr>
          <p:cNvPr id="5" name="指标单位0">
            <a:extLst xmlns:a="http://schemas.openxmlformats.org/drawingml/2006/main">
              <a:ext uri="{FF2B5EF4-FFF2-40B4-BE49-F238E27FC236}">
                <a16:creationId xmlns:a16="http://schemas.microsoft.com/office/drawing/2014/main" id="{EB240827-C233-4EA9-A5FD-F0EC7E204574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305175" y="30861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5DF720B9-3E78-4C08-B78C-9220275A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7" name="指标名称0">
            <a:extLst xmlns:a="http://schemas.openxmlformats.org/drawingml/2006/main">
              <a:ext uri="{FF2B5EF4-FFF2-40B4-BE49-F238E27FC236}">
                <a16:creationId xmlns:a16="http://schemas.microsoft.com/office/drawing/2014/main" id="{6D411977-F8F3-4F09-9763-623CF3399322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85800" y="435292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任务成功率</a:t>
            </a:r>
          </a:p>
        </p:txBody>
      </p:sp>
      <p:sp>
        <p:nvSpPr>
          <p:cNvPr id="8" name="指标说明0">
            <a:extLst xmlns:a="http://schemas.openxmlformats.org/drawingml/2006/main">
              <a:ext uri="{FF2B5EF4-FFF2-40B4-BE49-F238E27FC236}">
                <a16:creationId xmlns:a16="http://schemas.microsoft.com/office/drawing/2014/main" id="{0F564F45-40A6-4DD1-BC13-94537BFD1BB1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5057775"/>
            <a:ext cx="335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在此补充样本量与测试条件</a:t>
            </a:r>
          </a:p>
        </p:txBody>
      </p:sp>
      <p:sp>
        <p:nvSpPr>
          <p:cNvPr id="9" name="指标数值1">
            <a:extLst xmlns:a="http://schemas.openxmlformats.org/drawingml/2006/main">
              <a:ext uri="{FF2B5EF4-FFF2-40B4-BE49-F238E27FC236}">
                <a16:creationId xmlns:a16="http://schemas.microsoft.com/office/drawing/2014/main" id="{BC5716FC-AC2D-41AE-A074-D5326D065F43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4419600" y="2552700"/>
            <a:ext cx="25431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1.8</a:t>
            </a:r>
          </a:p>
        </p:txBody>
      </p:sp>
      <p:sp>
        <p:nvSpPr>
          <p:cNvPr id="10" name="指标单位1">
            <a:extLst xmlns:a="http://schemas.openxmlformats.org/drawingml/2006/main">
              <a:ext uri="{FF2B5EF4-FFF2-40B4-BE49-F238E27FC236}">
                <a16:creationId xmlns:a16="http://schemas.microsoft.com/office/drawing/2014/main" id="{2EC5EF6E-E687-40B6-9629-5013C6DEDA0E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038975" y="30861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11" name="分隔线">
            <a:extLst xmlns:a="http://schemas.openxmlformats.org/drawingml/2006/main">
              <a:ext uri="{FF2B5EF4-FFF2-40B4-BE49-F238E27FC236}">
                <a16:creationId xmlns:a16="http://schemas.microsoft.com/office/drawing/2014/main" id="{E184F7EB-8D4F-4AF7-95F3-53637679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2907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12" name="指标名称1">
            <a:extLst xmlns:a="http://schemas.openxmlformats.org/drawingml/2006/main">
              <a:ext uri="{FF2B5EF4-FFF2-40B4-BE49-F238E27FC236}">
                <a16:creationId xmlns:a16="http://schemas.microsoft.com/office/drawing/2014/main" id="{9CDDFA7A-DCB9-4A70-9D5D-AA69C00A379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419600" y="435292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平均响应时间</a:t>
            </a:r>
          </a:p>
        </p:txBody>
      </p:sp>
      <p:sp>
        <p:nvSpPr>
          <p:cNvPr id="13" name="指标说明1">
            <a:extLst xmlns:a="http://schemas.openxmlformats.org/drawingml/2006/main">
              <a:ext uri="{FF2B5EF4-FFF2-40B4-BE49-F238E27FC236}">
                <a16:creationId xmlns:a16="http://schemas.microsoft.com/office/drawing/2014/main" id="{B4BF19F2-BF91-4BD2-B1E3-2C186A22B830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419600" y="5057775"/>
            <a:ext cx="335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在此补充统计口径与测量方法</a:t>
            </a:r>
          </a:p>
        </p:txBody>
      </p:sp>
      <p:sp>
        <p:nvSpPr>
          <p:cNvPr id="14" name="指标数值2">
            <a:extLst xmlns:a="http://schemas.openxmlformats.org/drawingml/2006/main">
              <a:ext uri="{FF2B5EF4-FFF2-40B4-BE49-F238E27FC236}">
                <a16:creationId xmlns:a16="http://schemas.microsoft.com/office/drawing/2014/main" id="{B72DA0D7-ADF3-4983-A86F-7CFA023C67E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153400" y="2552700"/>
            <a:ext cx="25431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5" name="指标单位2">
            <a:extLst xmlns:a="http://schemas.openxmlformats.org/drawingml/2006/main">
              <a:ext uri="{FF2B5EF4-FFF2-40B4-BE49-F238E27FC236}">
                <a16:creationId xmlns:a16="http://schemas.microsoft.com/office/drawing/2014/main" id="{F36B014C-1AC1-47D1-9F8B-66C52E84D28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0772775" y="30861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h</a:t>
            </a:r>
          </a:p>
        </p:txBody>
      </p:sp>
      <p:sp>
        <p:nvSpPr>
          <p:cNvPr id="16" name="分隔线">
            <a:extLst xmlns:a="http://schemas.openxmlformats.org/drawingml/2006/main">
              <a:ext uri="{FF2B5EF4-FFF2-40B4-BE49-F238E27FC236}">
                <a16:creationId xmlns:a16="http://schemas.microsoft.com/office/drawing/2014/main" id="{D275BACD-8DFE-4C30-988F-B742DADF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2907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17" name="指标名称2">
            <a:extLst xmlns:a="http://schemas.openxmlformats.org/drawingml/2006/main">
              <a:ext uri="{FF2B5EF4-FFF2-40B4-BE49-F238E27FC236}">
                <a16:creationId xmlns:a16="http://schemas.microsoft.com/office/drawing/2014/main" id="{5A03DD6C-1EF0-4B86-A0C5-37742D38B20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153400" y="435292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连续运行时长</a:t>
            </a:r>
          </a:p>
        </p:txBody>
      </p:sp>
      <p:sp>
        <p:nvSpPr>
          <p:cNvPr id="18" name="指标说明2">
            <a:extLst xmlns:a="http://schemas.openxmlformats.org/drawingml/2006/main">
              <a:ext uri="{FF2B5EF4-FFF2-40B4-BE49-F238E27FC236}">
                <a16:creationId xmlns:a16="http://schemas.microsoft.com/office/drawing/2014/main" id="{34509697-C9E9-4E11-BC1C-3AF44898BFC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8153400" y="5057775"/>
            <a:ext cx="335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在此补充测试环境与运行状态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10 数据图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65273DF-4EB9-4F9A-AEB6-79480DCF49A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测试结果对比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627BB8B3-E7C3-4191-BCF7-2F03E5D4029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示例数据 · 得分（0–100）</a:t>
            </a:r>
          </a:p>
        </p:txBody>
      </p:sp>
      <p:sp>
        <p:nvSpPr>
          <p:cNvPr id="4" name="图表结论">
            <a:extLst xmlns:a="http://schemas.openxmlformats.org/drawingml/2006/main">
              <a:ext uri="{FF2B5EF4-FFF2-40B4-BE49-F238E27FC236}">
                <a16:creationId xmlns:a16="http://schemas.microsoft.com/office/drawing/2014/main" id="{1A7FA574-FE37-43F8-8EF3-228E16437B3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943975" y="2409825"/>
            <a:ext cx="25622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在此填写</a:t>
            </a:r>
          </a:p>
          <a:p xmlns:a="http://schemas.openxmlformats.org/drawingml/2006/main">
            <a:pPr algn="l">
              <a:defRPr sz="27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5" name="分隔线">
            <a:extLst xmlns:a="http://schemas.openxmlformats.org/drawingml/2006/main">
              <a:ext uri="{FF2B5EF4-FFF2-40B4-BE49-F238E27FC236}">
                <a16:creationId xmlns:a16="http://schemas.microsoft.com/office/drawing/2014/main" id="{1E016069-AB5A-42DB-83F9-8AC8F367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695700"/>
            <a:ext cx="5810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6" name="图表说明">
            <a:extLst xmlns:a="http://schemas.openxmlformats.org/drawingml/2006/main">
              <a:ext uri="{FF2B5EF4-FFF2-40B4-BE49-F238E27FC236}">
                <a16:creationId xmlns:a16="http://schemas.microsoft.com/office/drawing/2014/main" id="{5CCD1B93-EF26-4136-A132-773B228EB739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8943975" y="4019550"/>
            <a:ext cx="256222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结合测试数据，说明变化</a:t>
            </a:r>
          </a:p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趋势、差异原因与改进</a:t>
            </a:r>
          </a:p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方向。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11 参数与清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1C819C0-4910-4DF4-AEF2-DD0787ED447C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关键参数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D6F4A06A-557B-497E-8E12-A9315E00A7F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统一整理参数、目标与验证方式。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12 进度计划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22D3F9E0-AB3A-46C4-9739-34E9BCC5E0E3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进度计划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EFDF5A73-B695-4D0C-86C4-2A6F1002BDD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明确每一阶段的任务、负责人和交付结果。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13 团队介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6DA247E-798B-4296-8958-C430DA71BE3D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团队分工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800D03F2-B425-4B0B-AE2B-45592FC1094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清晰的职责分工，让协作更高效。</a:t>
            </a:r>
          </a:p>
        </p:txBody>
      </p:sp>
      <p:sp>
        <p:nvSpPr>
          <p:cNvPr id="4" name="成员照片0">
            <a:extLst xmlns:a="http://schemas.openxmlformats.org/drawingml/2006/main">
              <a:ext uri="{FF2B5EF4-FFF2-40B4-BE49-F238E27FC236}">
                <a16:creationId xmlns:a16="http://schemas.microsoft.com/office/drawing/2014/main" id="{07AE8A72-96FA-4D9E-ADF5-B6C10E2C92EB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85800" y="2257425"/>
            <a:ext cx="3352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成员照片</a:t>
            </a:r>
          </a:p>
        </p:txBody>
      </p:sp>
      <p:sp>
        <p:nvSpPr>
          <p:cNvPr id="5" name="分隔线">
            <a:extLst xmlns:a="http://schemas.openxmlformats.org/drawingml/2006/main">
              <a:ext uri="{FF2B5EF4-FFF2-40B4-BE49-F238E27FC236}">
                <a16:creationId xmlns:a16="http://schemas.microsoft.com/office/drawing/2014/main" id="{96E98C79-DEB1-40F1-AB24-A41866F9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B"/>
          </a:solidFill>
          <a:ln xmlns:a="http://schemas.openxmlformats.org/drawingml/2006/main" w="0">
            <a:noFill/>
          </a:ln>
        </p:spPr>
      </p:sp>
      <p:sp>
        <p:nvSpPr>
          <p:cNvPr id="6" name="成员姓名0">
            <a:extLst xmlns:a="http://schemas.openxmlformats.org/drawingml/2006/main">
              <a:ext uri="{FF2B5EF4-FFF2-40B4-BE49-F238E27FC236}">
                <a16:creationId xmlns:a16="http://schemas.microsoft.com/office/drawing/2014/main" id="{8D066CF1-033D-47F8-84B5-37271DB012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480060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姓名 / 成员一</a:t>
            </a:r>
          </a:p>
        </p:txBody>
      </p:sp>
      <p:sp>
        <p:nvSpPr>
          <p:cNvPr id="7" name="成员职责0">
            <a:extLst xmlns:a="http://schemas.openxmlformats.org/drawingml/2006/main">
              <a:ext uri="{FF2B5EF4-FFF2-40B4-BE49-F238E27FC236}">
                <a16:creationId xmlns:a16="http://schemas.microsoft.com/office/drawing/2014/main" id="{7064AF05-4382-4D8A-8280-05D798687FE8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85800" y="53054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机械设计</a:t>
            </a:r>
          </a:p>
        </p:txBody>
      </p:sp>
      <p:sp>
        <p:nvSpPr>
          <p:cNvPr id="8" name="成员说明0">
            <a:extLst xmlns:a="http://schemas.openxmlformats.org/drawingml/2006/main">
              <a:ext uri="{FF2B5EF4-FFF2-40B4-BE49-F238E27FC236}">
                <a16:creationId xmlns:a16="http://schemas.microsoft.com/office/drawing/2014/main" id="{FF85A211-3BF0-42B1-B3D1-51EA67286E45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573405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负责结构设计与样机实现</a:t>
            </a:r>
          </a:p>
        </p:txBody>
      </p:sp>
      <p:sp>
        <p:nvSpPr>
          <p:cNvPr id="9" name="成员照片1">
            <a:extLst xmlns:a="http://schemas.openxmlformats.org/drawingml/2006/main">
              <a:ext uri="{FF2B5EF4-FFF2-40B4-BE49-F238E27FC236}">
                <a16:creationId xmlns:a16="http://schemas.microsoft.com/office/drawing/2014/main" id="{C0D9AFA2-01FC-44CA-BBEC-EC2B258BC2DB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4419600" y="2257425"/>
            <a:ext cx="3352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成员照片</a:t>
            </a:r>
          </a:p>
        </p:txBody>
      </p:sp>
      <p:sp>
        <p:nvSpPr>
          <p:cNvPr id="10" name="分隔线">
            <a:extLst xmlns:a="http://schemas.openxmlformats.org/drawingml/2006/main">
              <a:ext uri="{FF2B5EF4-FFF2-40B4-BE49-F238E27FC236}">
                <a16:creationId xmlns:a16="http://schemas.microsoft.com/office/drawing/2014/main" id="{7215D81C-2BA7-4B81-A4BB-78493E11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4342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BC"/>
          </a:solidFill>
          <a:ln xmlns:a="http://schemas.openxmlformats.org/drawingml/2006/main" w="0">
            <a:noFill/>
          </a:ln>
        </p:spPr>
      </p:sp>
      <p:sp>
        <p:nvSpPr>
          <p:cNvPr id="11" name="成员姓名1">
            <a:extLst xmlns:a="http://schemas.openxmlformats.org/drawingml/2006/main">
              <a:ext uri="{FF2B5EF4-FFF2-40B4-BE49-F238E27FC236}">
                <a16:creationId xmlns:a16="http://schemas.microsoft.com/office/drawing/2014/main" id="{FB90B0A3-9003-48EA-B056-B9923A9E915F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419600" y="480060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姓名 / 成员二</a:t>
            </a:r>
          </a:p>
        </p:txBody>
      </p:sp>
      <p:sp>
        <p:nvSpPr>
          <p:cNvPr id="12" name="成员职责1">
            <a:extLst xmlns:a="http://schemas.openxmlformats.org/drawingml/2006/main">
              <a:ext uri="{FF2B5EF4-FFF2-40B4-BE49-F238E27FC236}">
                <a16:creationId xmlns:a16="http://schemas.microsoft.com/office/drawing/2014/main" id="{70C1C090-55EA-4F54-9B39-3E187698610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419600" y="53054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电控开发</a:t>
            </a:r>
          </a:p>
        </p:txBody>
      </p:sp>
      <p:sp>
        <p:nvSpPr>
          <p:cNvPr id="13" name="成员说明1">
            <a:extLst xmlns:a="http://schemas.openxmlformats.org/drawingml/2006/main">
              <a:ext uri="{FF2B5EF4-FFF2-40B4-BE49-F238E27FC236}">
                <a16:creationId xmlns:a16="http://schemas.microsoft.com/office/drawing/2014/main" id="{BDF8207C-9B9E-41FC-9811-D17F2A85A9F3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419600" y="573405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负责硬件集成与控制系统</a:t>
            </a:r>
          </a:p>
        </p:txBody>
      </p:sp>
      <p:sp>
        <p:nvSpPr>
          <p:cNvPr id="14" name="成员照片2">
            <a:extLst xmlns:a="http://schemas.openxmlformats.org/drawingml/2006/main">
              <a:ext uri="{FF2B5EF4-FFF2-40B4-BE49-F238E27FC236}">
                <a16:creationId xmlns:a16="http://schemas.microsoft.com/office/drawing/2014/main" id="{A2E6AE05-10F0-4B1B-8EEC-E2B02BDE682C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8153400" y="2257425"/>
            <a:ext cx="3352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成员照片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F71502CC-72AF-4A50-A9F9-71E7855A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4342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16" name="成员姓名2">
            <a:extLst xmlns:a="http://schemas.openxmlformats.org/drawingml/2006/main">
              <a:ext uri="{FF2B5EF4-FFF2-40B4-BE49-F238E27FC236}">
                <a16:creationId xmlns:a16="http://schemas.microsoft.com/office/drawing/2014/main" id="{08BC8D11-EF11-4869-B31F-DB192C7DB5B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3400" y="480060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姓名 / 成员三</a:t>
            </a:r>
          </a:p>
        </p:txBody>
      </p:sp>
      <p:sp>
        <p:nvSpPr>
          <p:cNvPr id="17" name="成员职责2">
            <a:extLst xmlns:a="http://schemas.openxmlformats.org/drawingml/2006/main">
              <a:ext uri="{FF2B5EF4-FFF2-40B4-BE49-F238E27FC236}">
                <a16:creationId xmlns:a16="http://schemas.microsoft.com/office/drawing/2014/main" id="{725C9AFC-DDE9-4E67-892E-27CF40428A5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153400" y="53054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算法与测试</a:t>
            </a:r>
          </a:p>
        </p:txBody>
      </p:sp>
      <p:sp>
        <p:nvSpPr>
          <p:cNvPr id="18" name="成员说明2">
            <a:extLst xmlns:a="http://schemas.openxmlformats.org/drawingml/2006/main">
              <a:ext uri="{FF2B5EF4-FFF2-40B4-BE49-F238E27FC236}">
                <a16:creationId xmlns:a16="http://schemas.microsoft.com/office/drawing/2014/main" id="{E5496FBE-0164-411A-938F-8121023D8F99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8153400" y="573405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负责策略开发与测试验证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14 结束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品牌">
            <a:extLst xmlns:a="http://schemas.openxmlformats.org/drawingml/2006/main">
              <a:ext uri="{FF2B5EF4-FFF2-40B4-BE49-F238E27FC236}">
                <a16:creationId xmlns:a16="http://schemas.microsoft.com/office/drawing/2014/main" id="{04D154A2-1790-4D89-A63E-0130CF34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ROBOCON</a:t>
            </a:r>
          </a:p>
        </p:txBody>
      </p:sp>
      <p:sp>
        <p:nvSpPr>
          <p:cNvPr id="3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7AD48120-3EC3-4DAB-9FB3-373FB3D4C663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2190750"/>
            <a:ext cx="95726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让创意，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成为现实。</a:t>
            </a:r>
          </a:p>
        </p:txBody>
      </p:sp>
      <p:sp>
        <p:nvSpPr>
          <p:cNvPr id="4" name="结束副标题">
            <a:extLst xmlns:a="http://schemas.openxmlformats.org/drawingml/2006/main">
              <a:ext uri="{FF2B5EF4-FFF2-40B4-BE49-F238E27FC236}">
                <a16:creationId xmlns:a16="http://schemas.microsoft.com/office/drawing/2014/main" id="{2BF15EFF-98E1-4926-ADAC-4B0DF58F078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42950" y="44862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2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2EAF3"/>
                </a:solidFill>
                <a:latin typeface="Microsoft YaHei"/>
                <a:ea typeface="Microsoft YaHei"/>
                <a:cs typeface="Microsoft YaHei"/>
              </a:rPr>
              <a:t>感谢聆听  /  欢迎交流</a:t>
            </a:r>
          </a:p>
        </p:txBody>
      </p:sp>
      <p:sp>
        <p:nvSpPr>
          <p:cNvPr id="5" name="分隔线">
            <a:extLst xmlns:a="http://schemas.openxmlformats.org/drawingml/2006/main">
              <a:ext uri="{FF2B5EF4-FFF2-40B4-BE49-F238E27FC236}">
                <a16:creationId xmlns:a16="http://schemas.microsoft.com/office/drawing/2014/main" id="{D5F43E4C-F109-4A70-86CD-B2A19BBB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BD00"/>
          </a:solidFill>
          <a:ln xmlns:a="http://schemas.openxmlformats.org/drawingml/2006/main" w="0">
            <a:noFill/>
          </a:ln>
        </p:spPr>
      </p:sp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71521CB5-F543-42C9-A41C-2390745E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00675"/>
            <a:ext cx="419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7" name="分隔线">
            <a:extLst xmlns:a="http://schemas.openxmlformats.org/drawingml/2006/main">
              <a:ext uri="{FF2B5EF4-FFF2-40B4-BE49-F238E27FC236}">
                <a16:creationId xmlns:a16="http://schemas.microsoft.com/office/drawing/2014/main" id="{7A31F955-EE2E-4205-ADB0-8D7A331A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00675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BC"/>
          </a:solidFill>
          <a:ln xmlns:a="http://schemas.openxmlformats.org/drawingml/2006/main" w="0">
            <a:noFill/>
          </a:ln>
        </p:spPr>
      </p:sp>
      <p:sp>
        <p:nvSpPr>
          <p:cNvPr id="8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4318983A-9837-4550-8FE3-587E23900C3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42950" y="6076950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团队名称   /   联系方式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004a2baa504e46" /><Relationship Type="http://schemas.openxmlformats.org/officeDocument/2006/relationships/slideLayout" Target="/ppt/slideLayouts/slideLayout1.xml" Id="Reac49131d643404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662a15a08e749bf" /><Relationship Type="http://schemas.openxmlformats.org/officeDocument/2006/relationships/slideLayout" Target="/ppt/slideLayouts/slideLayout5.xml" Id="R25e88956567f4d0c" /><Relationship Type="http://schemas.openxmlformats.org/officeDocument/2006/relationships/slideLayout" Target="/ppt/slideLayouts/slideLayout6.xml" Id="R8f560df3b9e24f78" /><Relationship Type="http://schemas.openxmlformats.org/officeDocument/2006/relationships/slideLayout" Target="/ppt/slideLayouts/slideLayout7.xml" Id="Rbe975ec3a83c48a7" /><Relationship Type="http://schemas.openxmlformats.org/officeDocument/2006/relationships/slideLayout" Target="/ppt/slideLayouts/slideLayout8.xml" Id="R5919d0841f734017" /><Relationship Type="http://schemas.openxmlformats.org/officeDocument/2006/relationships/slideLayout" Target="/ppt/slideLayouts/slideLayout9.xml" Id="Rc1b88f6878874abb" /><Relationship Type="http://schemas.openxmlformats.org/officeDocument/2006/relationships/slideLayout" Target="/ppt/slideLayouts/slideLayout10.xml" Id="Rc6a62b7d473643af" /><Relationship Type="http://schemas.openxmlformats.org/officeDocument/2006/relationships/slideLayout" Target="/ppt/slideLayouts/slideLayout11.xml" Id="R312094d183814a14" /><Relationship Type="http://schemas.openxmlformats.org/officeDocument/2006/relationships/slideLayout" Target="/ppt/slideLayouts/slideLayout12.xml" Id="R685b994bd7a240a6" /><Relationship Type="http://schemas.openxmlformats.org/officeDocument/2006/relationships/slideLayout" Target="/ppt/slideLayouts/slideLayout13.xml" Id="R0d4652553deb4045" /><Relationship Type="http://schemas.openxmlformats.org/officeDocument/2006/relationships/slideLayout" Target="/ppt/slideLayouts/slideLayout14.xml" Id="R1bd406f639174bb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bbf2156dbf0f43f9" /><Relationship Type="http://schemas.openxmlformats.org/officeDocument/2006/relationships/slideLayout" Target="/ppt/slideLayouts/slideLayout2.xml" Id="R66f6d5bde8d04917" /><Relationship Type="http://schemas.openxmlformats.org/officeDocument/2006/relationships/slideLayout" Target="/ppt/slideLayouts/slideLayout3.xml" Id="R286ff60802414604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8e12755bc7a04c24" /><Relationship Type="http://schemas.openxmlformats.org/officeDocument/2006/relationships/slideLayout" Target="/ppt/slideLayouts/slideLayout4.xml" Id="R10c6a11896df452f" /><Relationship Type="http://schemas.openxmlformats.org/officeDocument/2006/relationships/slideLayout" Target="/ppt/slideLayouts/slideLayout15.xml" Id="Rff0fcf6942504a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c49131d64340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01 白底 · 常规内容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顶栏品牌">
            <a:extLst xmlns:a="http://schemas.openxmlformats.org/drawingml/2006/main">
              <a:ext uri="{FF2B5EF4-FFF2-40B4-BE49-F238E27FC236}">
                <a16:creationId xmlns:a16="http://schemas.microsoft.com/office/drawing/2014/main" id="{EC79050F-F033-4306-B9C1-5C0CF723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ROBOCON</a:t>
            </a:r>
          </a:p>
        </p:txBody>
      </p:sp>
      <p:sp>
        <p:nvSpPr>
          <p:cNvPr id="3" name="顶栏主题">
            <a:extLst xmlns:a="http://schemas.openxmlformats.org/drawingml/2006/main">
              <a:ext uri="{FF2B5EF4-FFF2-40B4-BE49-F238E27FC236}">
                <a16:creationId xmlns:a16="http://schemas.microsoft.com/office/drawing/2014/main" id="{5B9376A2-2A69-4F7D-8F44-F79E833A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PROJECT REPORT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98597AE0-F299-4D63-9FCC-428B34CA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5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92D2D1A6-AAE7-4549-A7E5-D9D02556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团队名称  /  项目汇报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25e88956567f4d0c"/>
    <p:sldLayoutId xmlns:r="http://schemas.openxmlformats.org/officeDocument/2006/relationships" id="2147483652" r:id="R8f560df3b9e24f78"/>
    <p:sldLayoutId xmlns:r="http://schemas.openxmlformats.org/officeDocument/2006/relationships" id="2147483653" r:id="Rbe975ec3a83c48a7"/>
    <p:sldLayoutId xmlns:r="http://schemas.openxmlformats.org/officeDocument/2006/relationships" id="2147483654" r:id="R5919d0841f734017"/>
    <p:sldLayoutId xmlns:r="http://schemas.openxmlformats.org/officeDocument/2006/relationships" id="2147483655" r:id="Rc1b88f6878874abb"/>
    <p:sldLayoutId xmlns:r="http://schemas.openxmlformats.org/officeDocument/2006/relationships" id="2147483656" r:id="Rc6a62b7d473643af"/>
    <p:sldLayoutId xmlns:r="http://schemas.openxmlformats.org/officeDocument/2006/relationships" id="2147483657" r:id="R312094d183814a14"/>
    <p:sldLayoutId xmlns:r="http://schemas.openxmlformats.org/officeDocument/2006/relationships" id="2147483658" r:id="R685b994bd7a240a6"/>
    <p:sldLayoutId xmlns:r="http://schemas.openxmlformats.org/officeDocument/2006/relationships" id="2147483659" r:id="R0d4652553deb4045"/>
    <p:sldLayoutId xmlns:r="http://schemas.openxmlformats.org/officeDocument/2006/relationships" id="2147483660" r:id="R1bd406f639174bb9"/>
  </p:sldLayoutIdLst>
</p:sldMaster>
</file>

<file path=ppt/slideMasters/slideMaster3.xml><?xml version="1.0" encoding="utf-8"?>
<p:sldMaster xmlns:p="http://schemas.openxmlformats.org/presentationml/2006/main">
  <p:cSld name="02 白底 · 封面与目录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66f6d5bde8d04917"/>
    <p:sldLayoutId xmlns:r="http://schemas.openxmlformats.org/officeDocument/2006/relationships" id="2147483663" r:id="R286ff60802414604"/>
  </p:sldLayoutIdLst>
</p:sldMaster>
</file>

<file path=ppt/slideMasters/slideMaster4.xml><?xml version="1.0" encoding="utf-8"?>
<p:sldMaster xmlns:p="http://schemas.openxmlformats.org/presentationml/2006/main">
  <p:cSld name="03 蓝底 · 章节与结束">
    <p:bg>
      <p:bgPr>
        <a:solidFill xmlns:a="http://schemas.openxmlformats.org/drawingml/2006/main">
          <a:srgbClr val="006AA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10c6a11896df452f"/>
    <p:sldLayoutId xmlns:r="http://schemas.openxmlformats.org/officeDocument/2006/relationships" id="2147483666" r:id="Rff0fcf6942504a60"/>
  </p:sldLayoutIdLst>
</p:sldMaster>
</file>

<file path=ppt/slideMasters/theme/theme2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5ab93bd74043f4" /><Relationship Type="http://schemas.openxmlformats.org/officeDocument/2006/relationships/notesSlide" Target="/ppt/notesSlides/notesSlide1.xml" Id="R4f3ca4407ed14f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f708e9a62b47bd" /><Relationship Type="http://schemas.openxmlformats.org/officeDocument/2006/relationships/notesSlide" Target="/ppt/notesSlides/notesSlide2.xml" Id="Rb5d4b5940a644f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1f287846f8c4c2b" /><Relationship Type="http://schemas.openxmlformats.org/officeDocument/2006/relationships/notesSlide" Target="/ppt/notesSlides/notesSlide3.xml" Id="R8d5c2dad2c244a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dda585030624fe9" /><Relationship Type="http://schemas.openxmlformats.org/officeDocument/2006/relationships/notesSlide" Target="/ppt/notesSlides/notesSlide4.xml" Id="Ra0b3d1db914b44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01cbf129a40c0" /><Relationship Type="http://schemas.openxmlformats.org/officeDocument/2006/relationships/notesSlide" Target="/ppt/notesSlides/notesSlide5.xml" Id="Re7cbbfd637da43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b097eec7344c06" /><Relationship Type="http://schemas.openxmlformats.org/officeDocument/2006/relationships/notesSlide" Target="/ppt/notesSlides/notesSlide6.xml" Id="R7ea0772a3fb54c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b39e74c000c4f58" /><Relationship Type="http://schemas.openxmlformats.org/officeDocument/2006/relationships/notesSlide" Target="/ppt/notesSlides/notesSlide7.xml" Id="Rdef5afcd5b2b45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d94515578a448b2" /><Relationship Type="http://schemas.openxmlformats.org/officeDocument/2006/relationships/notesSlide" Target="/ppt/notesSlides/notesSlide8.xml" Id="Ree604e94c11a4d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3e938c58a364e66" /><Relationship Type="http://schemas.openxmlformats.org/officeDocument/2006/relationships/notesSlide" Target="/ppt/notesSlides/notesSlide9.xml" Id="R501c36c6183244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83b68c33efb4cc9" /><Relationship Type="http://schemas.openxmlformats.org/officeDocument/2006/relationships/chart" Target="/ppt/slides/charts/chart1.xml" Id="Rc18aebfe8d094951" /><Relationship Type="http://schemas.openxmlformats.org/officeDocument/2006/relationships/notesSlide" Target="/ppt/notesSlides/notesSlide10.xml" Id="R8d88c17965054b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6075e9ff28b4cdb" /><Relationship Type="http://schemas.openxmlformats.org/officeDocument/2006/relationships/notesSlide" Target="/ppt/notesSlides/notesSlide11.xml" Id="Re9a72e102e4f44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00f8b7fe377438a" /><Relationship Type="http://schemas.openxmlformats.org/officeDocument/2006/relationships/notesSlide" Target="/ppt/notesSlides/notesSlide12.xml" Id="Ref0ac2ad565745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561e7bb4de9488b" /><Relationship Type="http://schemas.openxmlformats.org/officeDocument/2006/relationships/notesSlide" Target="/ppt/notesSlides/notesSlide13.xml" Id="R53365e32808544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2ab0b178f4d450f" /><Relationship Type="http://schemas.openxmlformats.org/officeDocument/2006/relationships/notesSlide" Target="/ppt/notesSlides/notesSlide14.xml" Id="R4b8cb3f1ae4d41c0" /></Relationships>
</file>

<file path=ppt/slides/charts/_rels/chart1.xml.rels><?xml version='1.0' encoding='utf-8'?>
<Relationships xmlns="http://schemas.openxmlformats.org/package/2006/relationships"><Relationship Id="rIdEditableData" Type="http://schemas.openxmlformats.org/officeDocument/2006/relationships/package" Target="../../embeddings/chart1.xlsx" 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方案 A</c:v>
                </c:pt>
              </c:strCache>
            </c:strRef>
          </c:tx>
          <c:spPr>
            <a:solidFill>
              <a:srgbClr val="006AAB"/>
            </a:solidFill>
          </c:spPr>
          <c:cat>
            <c:strRef>
              <c:f>Data!$A$2:$A$4</c:f>
              <c:strCache>
                <c:ptCount val="3"/>
                <c:pt idx="0">
                  <c:v>测试一</c:v>
                </c:pt>
                <c:pt idx="1">
                  <c:v>测试二</c:v>
                </c:pt>
                <c:pt idx="2">
                  <c:v>测试三</c:v>
                </c:pt>
              </c:strCache>
            </c:strRef>
          </c:cat>
          <c:val>
            <c:numRef>
              <c:f>Data!$B$2:$B$4</c:f>
              <c:numCache>
                <c:formatCode>General</c:formatCode>
                <c:ptCount val="3"/>
                <c:pt idx="0">
                  <c:v>60</c:v>
                </c:pt>
                <c:pt idx="1">
                  <c:v>72</c:v>
                </c:pt>
                <c:pt idx="2">
                  <c:v>68</c:v>
                </c:pt>
              </c:numCache>
            </c:numRef>
          </c:val>
        </c:ser>
        <c:ser>
          <c:idx val="1"/>
          <c:order val="1"/>
          <c:tx>
            <c:strRef>
              <c:f>Data!$C$1</c:f>
              <c:strCache>
                <c:ptCount val="1"/>
                <c:pt idx="0">
                  <c:v>方案 B</c:v>
                </c:pt>
              </c:strCache>
            </c:strRef>
          </c:tx>
          <c:spPr>
            <a:solidFill>
              <a:srgbClr val="54B8BC"/>
            </a:solidFill>
          </c:spPr>
          <c:cat>
            <c:strRef>
              <c:f>Data!$A$2:$A$4</c:f>
              <c:strCache>
                <c:ptCount val="3"/>
                <c:pt idx="0">
                  <c:v>测试一</c:v>
                </c:pt>
                <c:pt idx="1">
                  <c:v>测试二</c:v>
                </c:pt>
                <c:pt idx="2">
                  <c:v>测试三</c:v>
                </c:pt>
              </c:strCache>
            </c:strRef>
          </c:cat>
          <c:val>
            <c:numRef>
              <c:f>Data!$C$2:$C$4</c:f>
              <c:numCache>
                <c:formatCode>General</c:formatCode>
                <c:ptCount val="3"/>
                <c:pt idx="0">
                  <c:v>82</c:v>
                </c:pt>
                <c:pt idx="1">
                  <c:v>89</c:v>
                </c:pt>
                <c:pt idx="2">
                  <c:v>92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350">
                  <a:solidFill>
                    <a:srgbClr val="1836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FE8EB"/>
            </a:solidFill>
          </a:ln>
        </c:spPr>
        <c:txPr>
          <a:bodyPr anchorCtr="1"/>
          <a:lstStyle/>
          <a:p>
            <a:pPr>
              <a:defRPr sz="1425">
                <a:solidFill>
                  <a:srgbClr val="6D818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FE8EB"/>
              </a:solidFill>
            </a:ln>
          </c:spPr>
        </c:majorGridlines>
        <c:numFmt formatCode="General"/>
        <c:majorTickMark val="none"/>
        <c:minorTickMark val="none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6D818C"/>
                </a:solidFill>
              </a:defRPr>
            </a:pPr>
          </a:p>
        </c:txPr>
        <c:crossAx val="48650112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6D818C"/>
              </a:solidFill>
            </a:defRPr>
          </a:pPr>
        </a:p>
      </c:txPr>
    </c:legend>
    <c:plotVisOnly val="1"/>
  </c:chart>
  <c:spPr>
    <a:solidFill>
      <a:srgbClr val="FFFFFF"/>
    </a:solidFill>
    <a:ln w="0">
      <a:noFill/>
    </a:ln>
  </c:spPr>
  <c:externalData r:id="rIdEditableData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封面标题">
            <a:extLst xmlns:a="http://schemas.openxmlformats.org/drawingml/2006/main">
              <a:ext uri="{FF2B5EF4-FFF2-40B4-BE49-F238E27FC236}">
                <a16:creationId xmlns:a16="http://schemas.microsoft.com/office/drawing/2014/main" id="{F9999C23-1BAB-4B75-85E3-1B6A49C83E0B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2162175"/>
            <a:ext cx="657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[项目名称]</a:t>
            </a:r>
          </a:p>
          <a:p xmlns:a="http://schemas.openxmlformats.org/drawingml/2006/main">
            <a:pPr algn="l">
              <a:defRPr sz="54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方案汇报</a:t>
            </a:r>
          </a:p>
        </p:txBody>
      </p:sp>
      <p:sp>
        <p:nvSpPr>
          <p:cNvPr id="2" name="封面副标题">
            <a:extLst xmlns:a="http://schemas.openxmlformats.org/drawingml/2006/main">
              <a:ext uri="{FF2B5EF4-FFF2-40B4-BE49-F238E27FC236}">
                <a16:creationId xmlns:a16="http://schemas.microsoft.com/office/drawing/2014/main" id="{0B302EA1-4033-45C8-9548-20E2E55563D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3900" y="437197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在此填写简短的项目说明</a:t>
            </a:r>
          </a:p>
        </p:txBody>
      </p:sp>
      <p:sp>
        <p:nvSpPr>
          <p:cNvPr id="3" name="汇报信息">
            <a:extLst xmlns:a="http://schemas.openxmlformats.org/drawingml/2006/main">
              <a:ext uri="{FF2B5EF4-FFF2-40B4-BE49-F238E27FC236}">
                <a16:creationId xmlns:a16="http://schemas.microsoft.com/office/drawing/2014/main" id="{7CE951E8-A785-4759-8493-6CE65D43933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23900" y="59055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团队名称   /   汇报人   /   2026.XX</a:t>
            </a:r>
          </a:p>
        </p:txBody>
      </p:sp>
    </p:spTree>
    <p:extLst>
      <p:ext uri="{BB962C8B-B14F-4D97-AF65-F5344CB8AC3E}">
        <p14:creationId xmlns:p14="http://schemas.microsoft.com/office/powerpoint/2010/main" val="8176637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目录标题">
            <a:extLst xmlns:a="http://schemas.openxmlformats.org/drawingml/2006/main">
              <a:ext uri="{FF2B5EF4-FFF2-40B4-BE49-F238E27FC236}">
                <a16:creationId xmlns:a16="http://schemas.microsoft.com/office/drawing/2014/main" id="{83375878-4F8D-4F7A-86EA-6D8213EC40BC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1381125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汇报目录</a:t>
            </a:r>
          </a:p>
        </p:txBody>
      </p:sp>
      <p:sp>
        <p:nvSpPr>
          <p:cNvPr id="2" name="目录说明">
            <a:extLst xmlns:a="http://schemas.openxmlformats.org/drawingml/2006/main">
              <a:ext uri="{FF2B5EF4-FFF2-40B4-BE49-F238E27FC236}">
                <a16:creationId xmlns:a16="http://schemas.microsoft.com/office/drawing/2014/main" id="{0A5BAA27-E0D0-4F16-BD39-B84352FC385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22860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从问题出发，让方案落地。</a:t>
            </a:r>
          </a:p>
        </p:txBody>
      </p:sp>
      <p:sp>
        <p:nvSpPr>
          <p:cNvPr id="3" name="目录项0">
            <a:extLst xmlns:a="http://schemas.openxmlformats.org/drawingml/2006/main">
              <a:ext uri="{FF2B5EF4-FFF2-40B4-BE49-F238E27FC236}">
                <a16:creationId xmlns:a16="http://schemas.microsoft.com/office/drawing/2014/main" id="{530CB020-BCDB-4C14-B9D7-B4684789FA0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667500" y="13239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4" name="目录项1">
            <a:extLst xmlns:a="http://schemas.openxmlformats.org/drawingml/2006/main">
              <a:ext uri="{FF2B5EF4-FFF2-40B4-BE49-F238E27FC236}">
                <a16:creationId xmlns:a16="http://schemas.microsoft.com/office/drawing/2014/main" id="{79E27136-4E03-46AC-9D1F-6ED3FED86AFC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667500" y="25146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设计方案</a:t>
            </a:r>
          </a:p>
        </p:txBody>
      </p:sp>
      <p:sp>
        <p:nvSpPr>
          <p:cNvPr id="5" name="目录项2">
            <a:extLst xmlns:a="http://schemas.openxmlformats.org/drawingml/2006/main">
              <a:ext uri="{FF2B5EF4-FFF2-40B4-BE49-F238E27FC236}">
                <a16:creationId xmlns:a16="http://schemas.microsoft.com/office/drawing/2014/main" id="{43CAD605-949E-40FA-A855-6092F764F5B7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667500" y="37052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6" name="目录项3">
            <a:extLst xmlns:a="http://schemas.openxmlformats.org/drawingml/2006/main">
              <a:ext uri="{FF2B5EF4-FFF2-40B4-BE49-F238E27FC236}">
                <a16:creationId xmlns:a16="http://schemas.microsoft.com/office/drawing/2014/main" id="{313F7F3B-08EA-4202-B271-593D44A50FC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667500" y="48958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计划与展望</a:t>
            </a:r>
          </a:p>
        </p:txBody>
      </p:sp>
      <p:sp>
        <p:nvSpPr>
          <p:cNvPr id="7" name="页码">
            <a:extLst xmlns:a="http://schemas.openxmlformats.org/drawingml/2006/main">
              <a:ext uri="{FF2B5EF4-FFF2-40B4-BE49-F238E27FC236}">
                <a16:creationId xmlns:a16="http://schemas.microsoft.com/office/drawing/2014/main" id="{CF51798A-13FC-484C-9A2C-DEB9BD07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88967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411EBB36-A5D7-4D6A-9151-E83CABC6E9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1685925"/>
            <a:ext cx="5238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850" b="1">
                <a:solidFill>
                  <a:srgbClr val="75C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0" b="1">
                <a:solidFill>
                  <a:srgbClr val="75C8D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176774D2-A676-4531-B884-6A01C8000F67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723900" y="37147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3" name="章节描述">
            <a:extLst xmlns:a="http://schemas.openxmlformats.org/drawingml/2006/main">
              <a:ext uri="{FF2B5EF4-FFF2-40B4-BE49-F238E27FC236}">
                <a16:creationId xmlns:a16="http://schemas.microsoft.com/office/drawing/2014/main" id="{DD063AD1-EC0F-42E0-AE06-D2C8BD3B23B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52475" y="479107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1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1EAF2"/>
                </a:solidFill>
                <a:latin typeface="Microsoft YaHei"/>
                <a:ea typeface="Microsoft YaHei"/>
                <a:cs typeface="Microsoft YaHei"/>
              </a:rPr>
              <a:t>在此填写本章节的一句话导语</a:t>
            </a:r>
          </a:p>
        </p:txBody>
      </p:sp>
    </p:spTree>
    <p:extLst>
      <p:ext uri="{BB962C8B-B14F-4D97-AF65-F5344CB8AC3E}">
        <p14:creationId xmlns:p14="http://schemas.microsoft.com/office/powerpoint/2010/main" val="21156054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CA5E77E-7306-43C9-9ABB-722DC9D4D6E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</a:p>
        </p:txBody>
      </p:sp>
      <p:sp>
        <p:nvSpPr>
          <p:cNvPr id="2" name="核心陈述">
            <a:extLst xmlns:a="http://schemas.openxmlformats.org/drawingml/2006/main">
              <a:ext uri="{FF2B5EF4-FFF2-40B4-BE49-F238E27FC236}">
                <a16:creationId xmlns:a16="http://schemas.microsoft.com/office/drawing/2014/main" id="{CB75220D-60E5-4E0D-8510-1F4734FD7F6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2562225"/>
            <a:ext cx="5095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用一句话</a:t>
            </a:r>
          </a:p>
          <a:p xmlns:a="http://schemas.openxmlformats.org/drawingml/2006/main">
            <a:pPr algn="l">
              <a:def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说明项目价值</a:t>
            </a:r>
          </a:p>
        </p:txBody>
      </p:sp>
      <p:sp>
        <p:nvSpPr>
          <p:cNvPr id="3" name="项目简介">
            <a:extLst xmlns:a="http://schemas.openxmlformats.org/drawingml/2006/main">
              <a:ext uri="{FF2B5EF4-FFF2-40B4-BE49-F238E27FC236}">
                <a16:creationId xmlns:a16="http://schemas.microsoft.com/office/drawing/2014/main" id="{67C1149A-3394-4BCE-8176-356AFCF5FA0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23900" y="4457700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在此简要描述项目的应用场景、</a:t>
            </a:r>
          </a:p>
          <a:p xmlns:a="http://schemas.openxmlformats.org/drawingml/2006/main">
            <a:pPr algn="l"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服务对象与预期价值。</a:t>
            </a:r>
          </a:p>
        </p:txBody>
      </p:sp>
      <p:sp>
        <p:nvSpPr>
          <p:cNvPr id="4" name="项目子标题0">
            <a:extLst xmlns:a="http://schemas.openxmlformats.org/drawingml/2006/main">
              <a:ext uri="{FF2B5EF4-FFF2-40B4-BE49-F238E27FC236}">
                <a16:creationId xmlns:a16="http://schemas.microsoft.com/office/drawing/2014/main" id="{4A64528C-FAC5-4504-BB1A-74E9711D9F2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372350" y="225742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5" name="项目内容0">
            <a:extLst xmlns:a="http://schemas.openxmlformats.org/drawingml/2006/main">
              <a:ext uri="{FF2B5EF4-FFF2-40B4-BE49-F238E27FC236}">
                <a16:creationId xmlns:a16="http://schemas.microsoft.com/office/drawing/2014/main" id="{01C3CDFC-6DCE-4830-8A4C-18930F5B0A7B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7372350" y="272415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说明当前场景与已有条件。</a:t>
            </a:r>
          </a:p>
        </p:txBody>
      </p:sp>
      <p:sp>
        <p:nvSpPr>
          <p:cNvPr id="6" name="项目子标题1">
            <a:extLst xmlns:a="http://schemas.openxmlformats.org/drawingml/2006/main">
              <a:ext uri="{FF2B5EF4-FFF2-40B4-BE49-F238E27FC236}">
                <a16:creationId xmlns:a16="http://schemas.microsoft.com/office/drawing/2014/main" id="{0C3CD12F-1391-4D1D-8303-63ACCA588C3C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372350" y="3429000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关键问题</a:t>
            </a:r>
          </a:p>
        </p:txBody>
      </p:sp>
      <p:sp>
        <p:nvSpPr>
          <p:cNvPr id="7" name="项目内容1">
            <a:extLst xmlns:a="http://schemas.openxmlformats.org/drawingml/2006/main">
              <a:ext uri="{FF2B5EF4-FFF2-40B4-BE49-F238E27FC236}">
                <a16:creationId xmlns:a16="http://schemas.microsoft.com/office/drawing/2014/main" id="{F892BB37-7DC5-4B7B-BC3A-816F28283B18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372350" y="3895725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描述需要解决的核心问题。</a:t>
            </a:r>
          </a:p>
        </p:txBody>
      </p:sp>
      <p:sp>
        <p:nvSpPr>
          <p:cNvPr id="8" name="项目子标题2">
            <a:extLst xmlns:a="http://schemas.openxmlformats.org/drawingml/2006/main">
              <a:ext uri="{FF2B5EF4-FFF2-40B4-BE49-F238E27FC236}">
                <a16:creationId xmlns:a16="http://schemas.microsoft.com/office/drawing/2014/main" id="{CCE132BE-E34E-4AF6-9E8F-AD4713FCD71B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372350" y="46005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9" name="项目内容2">
            <a:extLst xmlns:a="http://schemas.openxmlformats.org/drawingml/2006/main">
              <a:ext uri="{FF2B5EF4-FFF2-40B4-BE49-F238E27FC236}">
                <a16:creationId xmlns:a16="http://schemas.microsoft.com/office/drawing/2014/main" id="{435A71D7-DC10-405A-8793-9E23E7B8235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372350" y="506730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明确可衡量的目标与交付结果。</a:t>
            </a:r>
          </a:p>
        </p:txBody>
      </p:sp>
      <p:sp>
        <p:nvSpPr>
          <p:cNvPr id="10" name="页码">
            <a:extLst xmlns:a="http://schemas.openxmlformats.org/drawingml/2006/main">
              <a:ext uri="{FF2B5EF4-FFF2-40B4-BE49-F238E27FC236}">
                <a16:creationId xmlns:a16="http://schemas.microsoft.com/office/drawing/2014/main" id="{292C0931-1066-4AE2-B79E-83F12546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76112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498BEEE2-5414-4BBF-A5E1-C26B9F44B88F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方案展示</a:t>
            </a:r>
          </a:p>
        </p:txBody>
      </p:sp>
      <p:sp>
        <p:nvSpPr>
          <p:cNvPr id="2" name="项目图片">
            <a:extLst xmlns:a="http://schemas.openxmlformats.org/drawingml/2006/main">
              <a:ext uri="{FF2B5EF4-FFF2-40B4-BE49-F238E27FC236}">
                <a16:creationId xmlns:a16="http://schemas.microsoft.com/office/drawing/2014/main" id="{32FA2FBA-E30A-47F2-A048-D09B4D0D46C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685800" y="2047875"/>
            <a:ext cx="6248400" cy="3514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项目图片 / 结构示意图</a:t>
            </a:r>
          </a:p>
        </p:txBody>
      </p:sp>
      <p:sp>
        <p:nvSpPr>
          <p:cNvPr id="3" name="图注">
            <a:extLst xmlns:a="http://schemas.openxmlformats.org/drawingml/2006/main">
              <a:ext uri="{FF2B5EF4-FFF2-40B4-BE49-F238E27FC236}">
                <a16:creationId xmlns:a16="http://schemas.microsoft.com/office/drawing/2014/main" id="{1871505B-56D5-4C1B-ABF6-1923F9375A2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5743575"/>
            <a:ext cx="624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图 01  ·  在此填写图片说明</a:t>
            </a:r>
          </a:p>
        </p:txBody>
      </p:sp>
      <p:sp>
        <p:nvSpPr>
          <p:cNvPr id="4" name="方案亮点">
            <a:extLst xmlns:a="http://schemas.openxmlformats.org/drawingml/2006/main">
              <a:ext uri="{FF2B5EF4-FFF2-40B4-BE49-F238E27FC236}">
                <a16:creationId xmlns:a16="http://schemas.microsoft.com/office/drawing/2014/main" id="{C73C8316-E853-4313-A21C-BBA551BB50BF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524750" y="2276475"/>
            <a:ext cx="398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核心设计亮点</a:t>
            </a:r>
          </a:p>
        </p:txBody>
      </p:sp>
      <p:sp>
        <p:nvSpPr>
          <p:cNvPr id="5" name="方案描述">
            <a:extLst xmlns:a="http://schemas.openxmlformats.org/drawingml/2006/main">
              <a:ext uri="{FF2B5EF4-FFF2-40B4-BE49-F238E27FC236}">
                <a16:creationId xmlns:a16="http://schemas.microsoft.com/office/drawing/2014/main" id="{823C6501-614E-4A80-BB86-0365E06DF839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7524750" y="3000375"/>
            <a:ext cx="3981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在此说明图片中的关键设计，</a:t>
            </a:r>
          </a:p>
          <a:p xmlns:a="http://schemas.openxmlformats.org/drawingml/2006/main">
            <a:pPr algn="l">
              <a:defRPr sz="180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以及它如何回应项目目标。</a:t>
            </a:r>
          </a:p>
        </p:txBody>
      </p:sp>
      <p:sp>
        <p:nvSpPr>
          <p:cNvPr id="6" name="方案要点">
            <a:extLst xmlns:a="http://schemas.openxmlformats.org/drawingml/2006/main">
              <a:ext uri="{FF2B5EF4-FFF2-40B4-BE49-F238E27FC236}">
                <a16:creationId xmlns:a16="http://schemas.microsoft.com/office/drawing/2014/main" id="{3673D751-5751-4FD8-9AB4-61C2167079B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524750" y="4552950"/>
            <a:ext cx="39814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01  结构或功能特点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02  关键优势与应用价值</a:t>
            </a:r>
          </a:p>
        </p:txBody>
      </p:sp>
      <p:sp>
        <p:nvSpPr>
          <p:cNvPr id="7" name="页码">
            <a:extLst xmlns:a="http://schemas.openxmlformats.org/drawingml/2006/main">
              <a:ext uri="{FF2B5EF4-FFF2-40B4-BE49-F238E27FC236}">
                <a16:creationId xmlns:a16="http://schemas.microsoft.com/office/drawing/2014/main" id="{E3314419-078D-42A2-9017-64E3BC40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54892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2E6B412-751C-4914-B61A-89F542066B5A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方案对比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6EFFCE51-8A6D-4A74-BB0C-0FA77E069A9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在相同维度下比较方案，突出取舍依据。</a:t>
            </a:r>
          </a:p>
        </p:txBody>
      </p:sp>
      <p:sp>
        <p:nvSpPr>
          <p:cNvPr id="3" name="方案名称A">
            <a:extLst xmlns:a="http://schemas.openxmlformats.org/drawingml/2006/main">
              <a:ext uri="{FF2B5EF4-FFF2-40B4-BE49-F238E27FC236}">
                <a16:creationId xmlns:a16="http://schemas.microsoft.com/office/drawing/2014/main" id="{AE47D530-C3F8-4067-8AAE-8C861B96F35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1695450" y="24098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方案一</a:t>
            </a:r>
          </a:p>
        </p:txBody>
      </p:sp>
      <p:sp>
        <p:nvSpPr>
          <p:cNvPr id="4" name="A维度0">
            <a:extLst xmlns:a="http://schemas.openxmlformats.org/drawingml/2006/main">
              <a:ext uri="{FF2B5EF4-FFF2-40B4-BE49-F238E27FC236}">
                <a16:creationId xmlns:a16="http://schemas.microsoft.com/office/drawing/2014/main" id="{8D835C67-012A-4CCD-9E00-079FCDAE6FE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34956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设计思路</a:t>
            </a:r>
          </a:p>
        </p:txBody>
      </p:sp>
      <p:sp>
        <p:nvSpPr>
          <p:cNvPr id="5" name="A内容0">
            <a:extLst xmlns:a="http://schemas.openxmlformats.org/drawingml/2006/main">
              <a:ext uri="{FF2B5EF4-FFF2-40B4-BE49-F238E27FC236}">
                <a16:creationId xmlns:a16="http://schemas.microsoft.com/office/drawing/2014/main" id="{701F322F-E45C-4B35-B714-D9696312ABB0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095500" y="349567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填写主要原理与实现方式。</a:t>
            </a:r>
          </a:p>
        </p:txBody>
      </p:sp>
      <p:sp>
        <p:nvSpPr>
          <p:cNvPr id="6" name="A维度1">
            <a:extLst xmlns:a="http://schemas.openxmlformats.org/drawingml/2006/main">
              <a:ext uri="{FF2B5EF4-FFF2-40B4-BE49-F238E27FC236}">
                <a16:creationId xmlns:a16="http://schemas.microsoft.com/office/drawing/2014/main" id="{41836F45-DB9D-4076-BF71-8BA449CE5491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42291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7" name="A内容1">
            <a:extLst xmlns:a="http://schemas.openxmlformats.org/drawingml/2006/main">
              <a:ext uri="{FF2B5EF4-FFF2-40B4-BE49-F238E27FC236}">
                <a16:creationId xmlns:a16="http://schemas.microsoft.com/office/drawing/2014/main" id="{6AE14FBC-72EA-4396-88D5-FCF1BD419C4F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422910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填写适用条件与使用边界。</a:t>
            </a:r>
          </a:p>
        </p:txBody>
      </p:sp>
      <p:sp>
        <p:nvSpPr>
          <p:cNvPr id="8" name="A维度2">
            <a:extLst xmlns:a="http://schemas.openxmlformats.org/drawingml/2006/main">
              <a:ext uri="{FF2B5EF4-FFF2-40B4-BE49-F238E27FC236}">
                <a16:creationId xmlns:a16="http://schemas.microsoft.com/office/drawing/2014/main" id="{E3CEF644-D7FD-4768-A723-07C71CD4BFAA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685800" y="49625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评估结论</a:t>
            </a:r>
          </a:p>
        </p:txBody>
      </p:sp>
      <p:sp>
        <p:nvSpPr>
          <p:cNvPr id="9" name="A内容2">
            <a:extLst xmlns:a="http://schemas.openxmlformats.org/drawingml/2006/main">
              <a:ext uri="{FF2B5EF4-FFF2-40B4-BE49-F238E27FC236}">
                <a16:creationId xmlns:a16="http://schemas.microsoft.com/office/drawing/2014/main" id="{BA0A888C-A8B9-40E8-AC18-10ECE28D8129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2095500" y="496252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填写优点、限制与选择依据。</a:t>
            </a:r>
          </a:p>
        </p:txBody>
      </p:sp>
      <p:sp>
        <p:nvSpPr>
          <p:cNvPr id="10" name="方案名称B">
            <a:extLst xmlns:a="http://schemas.openxmlformats.org/drawingml/2006/main">
              <a:ext uri="{FF2B5EF4-FFF2-40B4-BE49-F238E27FC236}">
                <a16:creationId xmlns:a16="http://schemas.microsoft.com/office/drawing/2014/main" id="{91F645C5-FC2A-4939-8F06-54B56452B3AA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7715250" y="24098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方案二</a:t>
            </a:r>
          </a:p>
        </p:txBody>
      </p:sp>
      <p:sp>
        <p:nvSpPr>
          <p:cNvPr id="11" name="B维度0">
            <a:extLst xmlns:a="http://schemas.openxmlformats.org/drawingml/2006/main">
              <a:ext uri="{FF2B5EF4-FFF2-40B4-BE49-F238E27FC236}">
                <a16:creationId xmlns:a16="http://schemas.microsoft.com/office/drawing/2014/main" id="{74E053A4-6D6B-45A9-B5ED-3259F5219479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6705600" y="34956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设计思路</a:t>
            </a:r>
          </a:p>
        </p:txBody>
      </p:sp>
      <p:sp>
        <p:nvSpPr>
          <p:cNvPr id="12" name="B内容0">
            <a:extLst xmlns:a="http://schemas.openxmlformats.org/drawingml/2006/main">
              <a:ext uri="{FF2B5EF4-FFF2-40B4-BE49-F238E27FC236}">
                <a16:creationId xmlns:a16="http://schemas.microsoft.com/office/drawing/2014/main" id="{4D059341-5432-45D3-B69A-52046AA3662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15300" y="349567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填写主要原理与实现方式。</a:t>
            </a:r>
          </a:p>
        </p:txBody>
      </p:sp>
      <p:sp>
        <p:nvSpPr>
          <p:cNvPr id="13" name="B维度1">
            <a:extLst xmlns:a="http://schemas.openxmlformats.org/drawingml/2006/main">
              <a:ext uri="{FF2B5EF4-FFF2-40B4-BE49-F238E27FC236}">
                <a16:creationId xmlns:a16="http://schemas.microsoft.com/office/drawing/2014/main" id="{F1BD2E27-54D2-4BC5-8706-B496BA81B3B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705600" y="42291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14" name="B内容1">
            <a:extLst xmlns:a="http://schemas.openxmlformats.org/drawingml/2006/main">
              <a:ext uri="{FF2B5EF4-FFF2-40B4-BE49-F238E27FC236}">
                <a16:creationId xmlns:a16="http://schemas.microsoft.com/office/drawing/2014/main" id="{88CC7E01-C17E-48B7-86B6-3A8B03AC223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8115300" y="422910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填写适用条件与使用边界。</a:t>
            </a:r>
          </a:p>
        </p:txBody>
      </p:sp>
      <p:sp>
        <p:nvSpPr>
          <p:cNvPr id="15" name="B维度2">
            <a:extLst xmlns:a="http://schemas.openxmlformats.org/drawingml/2006/main">
              <a:ext uri="{FF2B5EF4-FFF2-40B4-BE49-F238E27FC236}">
                <a16:creationId xmlns:a16="http://schemas.microsoft.com/office/drawing/2014/main" id="{08DE4D59-52FA-4583-8529-DC4B453EED49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705600" y="49625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评估结论</a:t>
            </a:r>
          </a:p>
        </p:txBody>
      </p:sp>
      <p:sp>
        <p:nvSpPr>
          <p:cNvPr id="16" name="B内容2">
            <a:extLst xmlns:a="http://schemas.openxmlformats.org/drawingml/2006/main">
              <a:ext uri="{FF2B5EF4-FFF2-40B4-BE49-F238E27FC236}">
                <a16:creationId xmlns:a16="http://schemas.microsoft.com/office/drawing/2014/main" id="{CEF268A6-49AA-4A15-8C04-CAD5E36AFF1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115300" y="496252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填写优点、限制与选择依据。</a:t>
            </a:r>
          </a:p>
        </p:txBody>
      </p:sp>
      <p:sp>
        <p:nvSpPr>
          <p:cNvPr id="17" name="页码">
            <a:extLst xmlns:a="http://schemas.openxmlformats.org/drawingml/2006/main">
              <a:ext uri="{FF2B5EF4-FFF2-40B4-BE49-F238E27FC236}">
                <a16:creationId xmlns:a16="http://schemas.microsoft.com/office/drawing/2014/main" id="{7AEE65ED-D35C-4722-9D28-C92443EC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48223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8D57E8D-E03D-44F9-9BAD-60B38131ADF0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核心设计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ED51BC76-9DDC-4774-82C4-4C74B711529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用三个关键模块，清晰表达方案结构。</a:t>
            </a:r>
          </a:p>
        </p:txBody>
      </p:sp>
      <p:sp>
        <p:nvSpPr>
          <p:cNvPr id="3" name="模块标题0">
            <a:extLst xmlns:a="http://schemas.openxmlformats.org/drawingml/2006/main">
              <a:ext uri="{FF2B5EF4-FFF2-40B4-BE49-F238E27FC236}">
                <a16:creationId xmlns:a16="http://schemas.microsoft.com/office/drawing/2014/main" id="{167FD017-A870-4B6C-BC7C-4E3BB4FBE1E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4000500"/>
            <a:ext cx="335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机械结构</a:t>
            </a:r>
          </a:p>
        </p:txBody>
      </p:sp>
      <p:sp>
        <p:nvSpPr>
          <p:cNvPr id="4" name="模块说明0">
            <a:extLst xmlns:a="http://schemas.openxmlformats.org/drawingml/2006/main">
              <a:ext uri="{FF2B5EF4-FFF2-40B4-BE49-F238E27FC236}">
                <a16:creationId xmlns:a16="http://schemas.microsoft.com/office/drawing/2014/main" id="{4796E461-1F73-4788-A021-1730D4F6A101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47053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结构组成与运动方式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关键尺寸或设计约束</a:t>
            </a:r>
          </a:p>
        </p:txBody>
      </p:sp>
      <p:sp>
        <p:nvSpPr>
          <p:cNvPr id="5" name="模块标题1">
            <a:extLst xmlns:a="http://schemas.openxmlformats.org/drawingml/2006/main">
              <a:ext uri="{FF2B5EF4-FFF2-40B4-BE49-F238E27FC236}">
                <a16:creationId xmlns:a16="http://schemas.microsoft.com/office/drawing/2014/main" id="{7DB06764-7F7F-46CF-90B5-3037C3BA3F64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4419600" y="4000500"/>
            <a:ext cx="335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控制系统</a:t>
            </a:r>
          </a:p>
        </p:txBody>
      </p:sp>
      <p:sp>
        <p:nvSpPr>
          <p:cNvPr id="6" name="模块说明1">
            <a:extLst xmlns:a="http://schemas.openxmlformats.org/drawingml/2006/main">
              <a:ext uri="{FF2B5EF4-FFF2-40B4-BE49-F238E27FC236}">
                <a16:creationId xmlns:a16="http://schemas.microsoft.com/office/drawing/2014/main" id="{25B0B44D-0982-4EA9-95B6-2E25A617A34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4419600" y="47053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控制策略与执行流程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传感器和反馈机制</a:t>
            </a:r>
          </a:p>
        </p:txBody>
      </p:sp>
      <p:sp>
        <p:nvSpPr>
          <p:cNvPr id="7" name="模块标题2">
            <a:extLst xmlns:a="http://schemas.openxmlformats.org/drawingml/2006/main">
              <a:ext uri="{FF2B5EF4-FFF2-40B4-BE49-F238E27FC236}">
                <a16:creationId xmlns:a16="http://schemas.microsoft.com/office/drawing/2014/main" id="{A34C7B5B-0305-4644-9846-BA6CC3FFA09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153400" y="4000500"/>
            <a:ext cx="335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算法策略</a:t>
            </a:r>
          </a:p>
        </p:txBody>
      </p:sp>
      <p:sp>
        <p:nvSpPr>
          <p:cNvPr id="8" name="模块说明2">
            <a:extLst xmlns:a="http://schemas.openxmlformats.org/drawingml/2006/main">
              <a:ext uri="{FF2B5EF4-FFF2-40B4-BE49-F238E27FC236}">
                <a16:creationId xmlns:a16="http://schemas.microsoft.com/office/drawing/2014/main" id="{A40E5031-D960-40B4-8849-5D888EF84611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153400" y="47053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任务规划与决策逻辑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关键算法和优化方向</a:t>
            </a:r>
          </a:p>
        </p:txBody>
      </p:sp>
      <p:sp>
        <p:nvSpPr>
          <p:cNvPr id="9" name="页码">
            <a:extLst xmlns:a="http://schemas.openxmlformats.org/drawingml/2006/main">
              <a:ext uri="{FF2B5EF4-FFF2-40B4-BE49-F238E27FC236}">
                <a16:creationId xmlns:a16="http://schemas.microsoft.com/office/drawing/2014/main" id="{5055B1EC-4FDD-4C56-9861-FEB8BDAA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59355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D5DD870-6735-4337-A778-3EAC73BB5CC8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实施流程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465B23E8-8A32-41C9-A24B-9E907D3E3E9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从需求定义到测试验证，形成完整的工作闭环。</a:t>
            </a:r>
          </a:p>
        </p:txBody>
      </p:sp>
      <p:sp>
        <p:nvSpPr>
          <p:cNvPr id="3" name="流程标题0">
            <a:extLst xmlns:a="http://schemas.openxmlformats.org/drawingml/2006/main">
              <a:ext uri="{FF2B5EF4-FFF2-40B4-BE49-F238E27FC236}">
                <a16:creationId xmlns:a16="http://schemas.microsoft.com/office/drawing/2014/main" id="{303D454E-34F3-4031-AE31-356F62F346B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4" name="流程描述0">
            <a:extLst xmlns:a="http://schemas.openxmlformats.org/drawingml/2006/main">
              <a:ext uri="{FF2B5EF4-FFF2-40B4-BE49-F238E27FC236}">
                <a16:creationId xmlns:a16="http://schemas.microsoft.com/office/drawing/2014/main" id="{629A8647-789A-44AB-92CD-D43F1DC9F70B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场景与任务梳理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明确评价指标</a:t>
            </a:r>
          </a:p>
        </p:txBody>
      </p:sp>
      <p:sp>
        <p:nvSpPr>
          <p:cNvPr id="5" name="流程标题1">
            <a:extLst xmlns:a="http://schemas.openxmlformats.org/drawingml/2006/main">
              <a:ext uri="{FF2B5EF4-FFF2-40B4-BE49-F238E27FC236}">
                <a16:creationId xmlns:a16="http://schemas.microsoft.com/office/drawing/2014/main" id="{CFA681A2-5056-4F48-A61D-49E3F48DDB66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48615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6" name="流程描述1">
            <a:extLst xmlns:a="http://schemas.openxmlformats.org/drawingml/2006/main">
              <a:ext uri="{FF2B5EF4-FFF2-40B4-BE49-F238E27FC236}">
                <a16:creationId xmlns:a16="http://schemas.microsoft.com/office/drawing/2014/main" id="{94636C8F-E07D-477D-A134-E2F246DE3DA5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348615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结构与系统设计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确定技术路线</a:t>
            </a:r>
          </a:p>
        </p:txBody>
      </p:sp>
      <p:sp>
        <p:nvSpPr>
          <p:cNvPr id="7" name="流程标题2">
            <a:extLst xmlns:a="http://schemas.openxmlformats.org/drawingml/2006/main">
              <a:ext uri="{FF2B5EF4-FFF2-40B4-BE49-F238E27FC236}">
                <a16:creationId xmlns:a16="http://schemas.microsoft.com/office/drawing/2014/main" id="{47615FBD-F5BA-4DA7-BF65-70DB229278D3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28650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样机实现</a:t>
            </a:r>
          </a:p>
        </p:txBody>
      </p:sp>
      <p:sp>
        <p:nvSpPr>
          <p:cNvPr id="8" name="流程描述2">
            <a:extLst xmlns:a="http://schemas.openxmlformats.org/drawingml/2006/main">
              <a:ext uri="{FF2B5EF4-FFF2-40B4-BE49-F238E27FC236}">
                <a16:creationId xmlns:a16="http://schemas.microsoft.com/office/drawing/2014/main" id="{732F0C3F-3E3F-4AF8-997F-0AA764CDA4F8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628650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加工装配与开发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完成系统集成</a:t>
            </a:r>
          </a:p>
        </p:txBody>
      </p:sp>
      <p:sp>
        <p:nvSpPr>
          <p:cNvPr id="9" name="流程标题3">
            <a:extLst xmlns:a="http://schemas.openxmlformats.org/drawingml/2006/main">
              <a:ext uri="{FF2B5EF4-FFF2-40B4-BE49-F238E27FC236}">
                <a16:creationId xmlns:a16="http://schemas.microsoft.com/office/drawing/2014/main" id="{0957670D-7255-4170-AB1F-8BE962725A1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908685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测试迭代</a:t>
            </a:r>
          </a:p>
        </p:txBody>
      </p:sp>
      <p:sp>
        <p:nvSpPr>
          <p:cNvPr id="10" name="流程描述3">
            <a:extLst xmlns:a="http://schemas.openxmlformats.org/drawingml/2006/main">
              <a:ext uri="{FF2B5EF4-FFF2-40B4-BE49-F238E27FC236}">
                <a16:creationId xmlns:a16="http://schemas.microsoft.com/office/drawing/2014/main" id="{275E7F29-9D8F-46F7-AF40-E4F891478549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908685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实验验证与复盘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持续优化方案</a:t>
            </a:r>
          </a:p>
        </p:txBody>
      </p:sp>
      <p:sp>
        <p:nvSpPr>
          <p:cNvPr id="11" name="页码">
            <a:extLst xmlns:a="http://schemas.openxmlformats.org/drawingml/2006/main">
              <a:ext uri="{FF2B5EF4-FFF2-40B4-BE49-F238E27FC236}">
                <a16:creationId xmlns:a16="http://schemas.microsoft.com/office/drawing/2014/main" id="{2229CB66-A015-4016-A9A1-0A5164C7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828928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64D1D67-A69E-4992-A2F4-F8FE84CA1164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823CEB1C-AB3E-4B1A-9732-1151A00F494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示例数据 · 请替换为实际测试结果</a:t>
            </a:r>
          </a:p>
        </p:txBody>
      </p:sp>
      <p:sp>
        <p:nvSpPr>
          <p:cNvPr id="3" name="指标数值0">
            <a:extLst xmlns:a="http://schemas.openxmlformats.org/drawingml/2006/main">
              <a:ext uri="{FF2B5EF4-FFF2-40B4-BE49-F238E27FC236}">
                <a16:creationId xmlns:a16="http://schemas.microsoft.com/office/drawing/2014/main" id="{FA1A7231-881F-4DB8-8FEB-249259F4881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2552700"/>
            <a:ext cx="25431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92</a:t>
            </a:r>
          </a:p>
        </p:txBody>
      </p:sp>
      <p:sp>
        <p:nvSpPr>
          <p:cNvPr id="4" name="指标单位0">
            <a:extLst xmlns:a="http://schemas.openxmlformats.org/drawingml/2006/main">
              <a:ext uri="{FF2B5EF4-FFF2-40B4-BE49-F238E27FC236}">
                <a16:creationId xmlns:a16="http://schemas.microsoft.com/office/drawing/2014/main" id="{EB240827-C233-4EA9-A5FD-F0EC7E204574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305175" y="30861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5" name="指标名称0">
            <a:extLst xmlns:a="http://schemas.openxmlformats.org/drawingml/2006/main">
              <a:ext uri="{FF2B5EF4-FFF2-40B4-BE49-F238E27FC236}">
                <a16:creationId xmlns:a16="http://schemas.microsoft.com/office/drawing/2014/main" id="{6D411977-F8F3-4F09-9763-623CF3399322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85800" y="435292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任务成功率</a:t>
            </a:r>
          </a:p>
        </p:txBody>
      </p:sp>
      <p:sp>
        <p:nvSpPr>
          <p:cNvPr id="6" name="指标说明0">
            <a:extLst xmlns:a="http://schemas.openxmlformats.org/drawingml/2006/main">
              <a:ext uri="{FF2B5EF4-FFF2-40B4-BE49-F238E27FC236}">
                <a16:creationId xmlns:a16="http://schemas.microsoft.com/office/drawing/2014/main" id="{0F564F45-40A6-4DD1-BC13-94537BFD1BB1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5057775"/>
            <a:ext cx="335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在此补充样本量与测试条件</a:t>
            </a:r>
          </a:p>
        </p:txBody>
      </p:sp>
      <p:sp>
        <p:nvSpPr>
          <p:cNvPr id="7" name="指标数值1">
            <a:extLst xmlns:a="http://schemas.openxmlformats.org/drawingml/2006/main">
              <a:ext uri="{FF2B5EF4-FFF2-40B4-BE49-F238E27FC236}">
                <a16:creationId xmlns:a16="http://schemas.microsoft.com/office/drawing/2014/main" id="{BC5716FC-AC2D-41AE-A074-D5326D065F43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4419600" y="2552700"/>
            <a:ext cx="25431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1.8</a:t>
            </a:r>
          </a:p>
        </p:txBody>
      </p:sp>
      <p:sp>
        <p:nvSpPr>
          <p:cNvPr id="8" name="指标单位1">
            <a:extLst xmlns:a="http://schemas.openxmlformats.org/drawingml/2006/main">
              <a:ext uri="{FF2B5EF4-FFF2-40B4-BE49-F238E27FC236}">
                <a16:creationId xmlns:a16="http://schemas.microsoft.com/office/drawing/2014/main" id="{2EC5EF6E-E687-40B6-9629-5013C6DEDA0E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038975" y="30861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9" name="指标名称1">
            <a:extLst xmlns:a="http://schemas.openxmlformats.org/drawingml/2006/main">
              <a:ext uri="{FF2B5EF4-FFF2-40B4-BE49-F238E27FC236}">
                <a16:creationId xmlns:a16="http://schemas.microsoft.com/office/drawing/2014/main" id="{9CDDFA7A-DCB9-4A70-9D5D-AA69C00A379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419600" y="435292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平均响应时间</a:t>
            </a:r>
          </a:p>
        </p:txBody>
      </p:sp>
      <p:sp>
        <p:nvSpPr>
          <p:cNvPr id="10" name="指标说明1">
            <a:extLst xmlns:a="http://schemas.openxmlformats.org/drawingml/2006/main">
              <a:ext uri="{FF2B5EF4-FFF2-40B4-BE49-F238E27FC236}">
                <a16:creationId xmlns:a16="http://schemas.microsoft.com/office/drawing/2014/main" id="{B4BF19F2-BF91-4BD2-B1E3-2C186A22B830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419600" y="5057775"/>
            <a:ext cx="335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在此补充统计口径与测量方法</a:t>
            </a:r>
          </a:p>
        </p:txBody>
      </p:sp>
      <p:sp>
        <p:nvSpPr>
          <p:cNvPr id="11" name="指标数值2">
            <a:extLst xmlns:a="http://schemas.openxmlformats.org/drawingml/2006/main">
              <a:ext uri="{FF2B5EF4-FFF2-40B4-BE49-F238E27FC236}">
                <a16:creationId xmlns:a16="http://schemas.microsoft.com/office/drawing/2014/main" id="{B72DA0D7-ADF3-4983-A86F-7CFA023C67E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153400" y="2552700"/>
            <a:ext cx="25431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2" name="指标单位2">
            <a:extLst xmlns:a="http://schemas.openxmlformats.org/drawingml/2006/main">
              <a:ext uri="{FF2B5EF4-FFF2-40B4-BE49-F238E27FC236}">
                <a16:creationId xmlns:a16="http://schemas.microsoft.com/office/drawing/2014/main" id="{F36B014C-1AC1-47D1-9F8B-66C52E84D28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0772775" y="30861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h</a:t>
            </a:r>
          </a:p>
        </p:txBody>
      </p:sp>
      <p:sp>
        <p:nvSpPr>
          <p:cNvPr id="13" name="指标名称2">
            <a:extLst xmlns:a="http://schemas.openxmlformats.org/drawingml/2006/main">
              <a:ext uri="{FF2B5EF4-FFF2-40B4-BE49-F238E27FC236}">
                <a16:creationId xmlns:a16="http://schemas.microsoft.com/office/drawing/2014/main" id="{5A03DD6C-1EF0-4B86-A0C5-37742D38B20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153400" y="435292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连续运行时长</a:t>
            </a:r>
          </a:p>
        </p:txBody>
      </p:sp>
      <p:sp>
        <p:nvSpPr>
          <p:cNvPr id="14" name="指标说明2">
            <a:extLst xmlns:a="http://schemas.openxmlformats.org/drawingml/2006/main">
              <a:ext uri="{FF2B5EF4-FFF2-40B4-BE49-F238E27FC236}">
                <a16:creationId xmlns:a16="http://schemas.microsoft.com/office/drawing/2014/main" id="{34509697-C9E9-4E11-BC1C-3AF44898BFC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8153400" y="5057775"/>
            <a:ext cx="335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在此补充测试环境与运行状态</a:t>
            </a:r>
          </a:p>
        </p:txBody>
      </p:sp>
      <p:sp>
        <p:nvSpPr>
          <p:cNvPr id="15" name="页码">
            <a:extLst xmlns:a="http://schemas.openxmlformats.org/drawingml/2006/main">
              <a:ext uri="{FF2B5EF4-FFF2-40B4-BE49-F238E27FC236}">
                <a16:creationId xmlns:a16="http://schemas.microsoft.com/office/drawing/2014/main" id="{A4C3835F-E8A9-45F5-ABAA-D42CC3D1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230299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65273DF-4EB9-4F9A-AEB6-79480DCF49A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测试结果对比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627BB8B3-E7C3-4191-BCF7-2F03E5D4029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示例数据 · 得分（0–100）</a:t>
            </a:r>
          </a:p>
        </p:txBody>
      </p:sp>
      <p:sp>
        <p:nvSpPr>
          <p:cNvPr id="3" name="图表结论">
            <a:extLst xmlns:a="http://schemas.openxmlformats.org/drawingml/2006/main">
              <a:ext uri="{FF2B5EF4-FFF2-40B4-BE49-F238E27FC236}">
                <a16:creationId xmlns:a16="http://schemas.microsoft.com/office/drawing/2014/main" id="{1A7FA574-FE37-43F8-8EF3-228E16437B3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943975" y="2409825"/>
            <a:ext cx="25622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在此填写</a:t>
            </a:r>
          </a:p>
          <a:p xmlns:a="http://schemas.openxmlformats.org/drawingml/2006/main">
            <a:pPr algn="l">
              <a:defRPr sz="27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" name="图表说明">
            <a:extLst xmlns:a="http://schemas.openxmlformats.org/drawingml/2006/main">
              <a:ext uri="{FF2B5EF4-FFF2-40B4-BE49-F238E27FC236}">
                <a16:creationId xmlns:a16="http://schemas.microsoft.com/office/drawing/2014/main" id="{5CCD1B93-EF26-4136-A132-773B228EB739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8943975" y="4019550"/>
            <a:ext cx="256222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结合测试数据，说明变化</a:t>
            </a:r>
          </a:p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趋势、差异原因与改进</a:t>
            </a:r>
          </a:p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方向。</a:t>
            </a:r>
          </a:p>
        </p:txBody>
      </p:sp>
      <p:sp>
        <p:nvSpPr>
          <p:cNvPr id="5" name="页码">
            <a:extLst xmlns:a="http://schemas.openxmlformats.org/drawingml/2006/main">
              <a:ext uri="{FF2B5EF4-FFF2-40B4-BE49-F238E27FC236}">
                <a16:creationId xmlns:a16="http://schemas.microsoft.com/office/drawing/2014/main" id="{8534F441-ABA1-418C-88DF-2331243A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2257425"/>
          <a:ext xmlns:a="http://schemas.openxmlformats.org/drawingml/2006/main" cx="7858125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8aebfe8d094951"/>
          </a:graphicData>
        </a:graphic>
      </p:graphicFrame>
    </p:spTree>
    <p:extLst>
      <p:ext uri="{BB962C8B-B14F-4D97-AF65-F5344CB8AC3E}">
        <p14:creationId xmlns:p14="http://schemas.microsoft.com/office/powerpoint/2010/main" val="101543478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1C819C0-4910-4DF4-AEF2-DD0787ED447C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关键参数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D6F4A06A-557B-497E-8E12-A9315E00A7F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统一整理参数、目标与验证方式。</a:t>
            </a:r>
          </a:p>
        </p:txBody>
      </p:sp>
      <p:sp>
        <p:nvSpPr>
          <p:cNvPr id="3" name="页码">
            <a:extLst xmlns:a="http://schemas.openxmlformats.org/drawingml/2006/main">
              <a:ext uri="{FF2B5EF4-FFF2-40B4-BE49-F238E27FC236}">
                <a16:creationId xmlns:a16="http://schemas.microsoft.com/office/drawing/2014/main" id="{B213530F-3FE2-49B6-81FD-B815C73B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57425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57550"/>
                <a:gridCol w="2076450"/>
                <a:gridCol w="2076450"/>
                <a:gridCol w="340995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 / 项目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A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目标值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A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实测值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A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验证方式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AA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定位精度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填写测试方法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响应时间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填写统计口径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额定负载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填写测试条件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运行稳定性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填写评价标准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表格备注">
            <a:extLst xmlns:a="http://schemas.openxmlformats.org/drawingml/2006/main">
              <a:ext uri="{FF2B5EF4-FFF2-40B4-BE49-F238E27FC236}">
                <a16:creationId xmlns:a16="http://schemas.microsoft.com/office/drawing/2014/main" id="{899853E6-2EA4-419E-B575-0A9C7488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备注：在此补充单位、测试环境及必要说明。</a:t>
            </a:r>
          </a:p>
        </p:txBody>
      </p:sp>
    </p:spTree>
    <p:extLst>
      <p:ext uri="{BB962C8B-B14F-4D97-AF65-F5344CB8AC3E}">
        <p14:creationId xmlns:p14="http://schemas.microsoft.com/office/powerpoint/2010/main" val="16366213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22D3F9E0-AB3A-46C4-9739-34E9BCC5E0E3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进度计划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EFDF5A73-B695-4D0C-86C4-2A6F1002BDD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明确每一阶段的任务、负责人和交付结果。</a:t>
            </a:r>
          </a:p>
        </p:txBody>
      </p:sp>
      <p:sp>
        <p:nvSpPr>
          <p:cNvPr id="3" name="页码">
            <a:extLst xmlns:a="http://schemas.openxmlformats.org/drawingml/2006/main">
              <a:ext uri="{FF2B5EF4-FFF2-40B4-BE49-F238E27FC236}">
                <a16:creationId xmlns:a16="http://schemas.microsoft.com/office/drawing/2014/main" id="{EB95F84E-E79C-4405-AD6E-AAD44919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57425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33675"/>
                <a:gridCol w="2000250"/>
                <a:gridCol w="2676525"/>
                <a:gridCol w="3409950"/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1836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时间安排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1836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核心任务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1836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交付结果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18364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 需求与调研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1–2 周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填写关键任务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需求说明 / 评价指标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 设计与实现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3–5 周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填写关键任务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方案文档 / 样机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 测试与优化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6–7 周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填写关键任务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测试记录 / 改进清单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7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 总结与交付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8 周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填写关键任务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 / 演示成果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计划备注">
            <a:extLst xmlns:a="http://schemas.openxmlformats.org/drawingml/2006/main">
              <a:ext uri="{FF2B5EF4-FFF2-40B4-BE49-F238E27FC236}">
                <a16:creationId xmlns:a16="http://schemas.microsoft.com/office/drawing/2014/main" id="{82A0386D-F16C-4565-9B1B-95419146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负责人：________    关键节点：________    协作事项：________</a:t>
            </a:r>
          </a:p>
        </p:txBody>
      </p:sp>
    </p:spTree>
    <p:extLst>
      <p:ext uri="{BB962C8B-B14F-4D97-AF65-F5344CB8AC3E}">
        <p14:creationId xmlns:p14="http://schemas.microsoft.com/office/powerpoint/2010/main" val="9825870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6DA247E-798B-4296-8958-C430DA71BE3D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团队分工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800D03F2-B425-4B0B-AE2B-45592FC1094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628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清晰的职责分工，让协作更高效。</a:t>
            </a:r>
          </a:p>
        </p:txBody>
      </p:sp>
      <p:sp>
        <p:nvSpPr>
          <p:cNvPr id="3" name="成员照片0">
            <a:extLst xmlns:a="http://schemas.openxmlformats.org/drawingml/2006/main">
              <a:ext uri="{FF2B5EF4-FFF2-40B4-BE49-F238E27FC236}">
                <a16:creationId xmlns:a16="http://schemas.microsoft.com/office/drawing/2014/main" id="{07AE8A72-96FA-4D9E-ADF5-B6C10E2C92EB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85800" y="2257425"/>
            <a:ext cx="3352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成员照片</a:t>
            </a:r>
          </a:p>
        </p:txBody>
      </p:sp>
      <p:sp>
        <p:nvSpPr>
          <p:cNvPr id="4" name="成员姓名0">
            <a:extLst xmlns:a="http://schemas.openxmlformats.org/drawingml/2006/main">
              <a:ext uri="{FF2B5EF4-FFF2-40B4-BE49-F238E27FC236}">
                <a16:creationId xmlns:a16="http://schemas.microsoft.com/office/drawing/2014/main" id="{8D066CF1-033D-47F8-84B5-37271DB012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480060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姓名 / 成员一</a:t>
            </a:r>
          </a:p>
        </p:txBody>
      </p:sp>
      <p:sp>
        <p:nvSpPr>
          <p:cNvPr id="5" name="成员职责0">
            <a:extLst xmlns:a="http://schemas.openxmlformats.org/drawingml/2006/main">
              <a:ext uri="{FF2B5EF4-FFF2-40B4-BE49-F238E27FC236}">
                <a16:creationId xmlns:a16="http://schemas.microsoft.com/office/drawing/2014/main" id="{7064AF05-4382-4D8A-8280-05D798687FE8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85800" y="53054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机械设计</a:t>
            </a:r>
          </a:p>
        </p:txBody>
      </p:sp>
      <p:sp>
        <p:nvSpPr>
          <p:cNvPr id="6" name="成员说明0">
            <a:extLst xmlns:a="http://schemas.openxmlformats.org/drawingml/2006/main">
              <a:ext uri="{FF2B5EF4-FFF2-40B4-BE49-F238E27FC236}">
                <a16:creationId xmlns:a16="http://schemas.microsoft.com/office/drawing/2014/main" id="{FF85A211-3BF0-42B1-B3D1-51EA67286E45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573405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负责结构设计与样机实现</a:t>
            </a:r>
          </a:p>
        </p:txBody>
      </p:sp>
      <p:sp>
        <p:nvSpPr>
          <p:cNvPr id="7" name="成员照片1">
            <a:extLst xmlns:a="http://schemas.openxmlformats.org/drawingml/2006/main">
              <a:ext uri="{FF2B5EF4-FFF2-40B4-BE49-F238E27FC236}">
                <a16:creationId xmlns:a16="http://schemas.microsoft.com/office/drawing/2014/main" id="{C0D9AFA2-01FC-44CA-BBEC-EC2B258BC2DB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4419600" y="2257425"/>
            <a:ext cx="3352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成员照片</a:t>
            </a:r>
          </a:p>
        </p:txBody>
      </p:sp>
      <p:sp>
        <p:nvSpPr>
          <p:cNvPr id="8" name="成员姓名1">
            <a:extLst xmlns:a="http://schemas.openxmlformats.org/drawingml/2006/main">
              <a:ext uri="{FF2B5EF4-FFF2-40B4-BE49-F238E27FC236}">
                <a16:creationId xmlns:a16="http://schemas.microsoft.com/office/drawing/2014/main" id="{FB90B0A3-9003-48EA-B056-B9923A9E915F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419600" y="480060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姓名 / 成员二</a:t>
            </a:r>
          </a:p>
        </p:txBody>
      </p:sp>
      <p:sp>
        <p:nvSpPr>
          <p:cNvPr id="9" name="成员职责1">
            <a:extLst xmlns:a="http://schemas.openxmlformats.org/drawingml/2006/main">
              <a:ext uri="{FF2B5EF4-FFF2-40B4-BE49-F238E27FC236}">
                <a16:creationId xmlns:a16="http://schemas.microsoft.com/office/drawing/2014/main" id="{70C1C090-55EA-4F54-9B39-3E187698610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419600" y="53054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电控开发</a:t>
            </a:r>
          </a:p>
        </p:txBody>
      </p:sp>
      <p:sp>
        <p:nvSpPr>
          <p:cNvPr id="10" name="成员说明1">
            <a:extLst xmlns:a="http://schemas.openxmlformats.org/drawingml/2006/main">
              <a:ext uri="{FF2B5EF4-FFF2-40B4-BE49-F238E27FC236}">
                <a16:creationId xmlns:a16="http://schemas.microsoft.com/office/drawing/2014/main" id="{BDF8207C-9B9E-41FC-9811-D17F2A85A9F3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419600" y="573405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负责硬件集成与控制系统</a:t>
            </a:r>
          </a:p>
        </p:txBody>
      </p:sp>
      <p:sp>
        <p:nvSpPr>
          <p:cNvPr id="11" name="成员照片2">
            <a:extLst xmlns:a="http://schemas.openxmlformats.org/drawingml/2006/main">
              <a:ext uri="{FF2B5EF4-FFF2-40B4-BE49-F238E27FC236}">
                <a16:creationId xmlns:a16="http://schemas.microsoft.com/office/drawing/2014/main" id="{A2E6AE05-10F0-4B1B-8EEC-E2B02BDE682C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8153400" y="2257425"/>
            <a:ext cx="3352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成员照片</a:t>
            </a:r>
          </a:p>
        </p:txBody>
      </p:sp>
      <p:sp>
        <p:nvSpPr>
          <p:cNvPr id="12" name="成员姓名2">
            <a:extLst xmlns:a="http://schemas.openxmlformats.org/drawingml/2006/main">
              <a:ext uri="{FF2B5EF4-FFF2-40B4-BE49-F238E27FC236}">
                <a16:creationId xmlns:a16="http://schemas.microsoft.com/office/drawing/2014/main" id="{08BC8D11-EF11-4869-B31F-DB192C7DB5B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3400" y="480060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姓名 / 成员三</a:t>
            </a:r>
          </a:p>
        </p:txBody>
      </p:sp>
      <p:sp>
        <p:nvSpPr>
          <p:cNvPr id="13" name="成员职责2">
            <a:extLst xmlns:a="http://schemas.openxmlformats.org/drawingml/2006/main">
              <a:ext uri="{FF2B5EF4-FFF2-40B4-BE49-F238E27FC236}">
                <a16:creationId xmlns:a16="http://schemas.microsoft.com/office/drawing/2014/main" id="{725C9AFC-DDE9-4E67-892E-27CF40428A5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153400" y="53054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算法与测试</a:t>
            </a:r>
          </a:p>
        </p:txBody>
      </p:sp>
      <p:sp>
        <p:nvSpPr>
          <p:cNvPr id="14" name="成员说明2">
            <a:extLst xmlns:a="http://schemas.openxmlformats.org/drawingml/2006/main">
              <a:ext uri="{FF2B5EF4-FFF2-40B4-BE49-F238E27FC236}">
                <a16:creationId xmlns:a16="http://schemas.microsoft.com/office/drawing/2014/main" id="{E5496FBE-0164-411A-938F-8121023D8F99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8153400" y="573405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负责策略开发与测试验证</a:t>
            </a:r>
          </a:p>
        </p:txBody>
      </p:sp>
      <p:sp>
        <p:nvSpPr>
          <p:cNvPr id="15" name="页码">
            <a:extLst xmlns:a="http://schemas.openxmlformats.org/drawingml/2006/main">
              <a:ext uri="{FF2B5EF4-FFF2-40B4-BE49-F238E27FC236}">
                <a16:creationId xmlns:a16="http://schemas.microsoft.com/office/drawing/2014/main" id="{99663C82-8F85-490A-8BBF-1C08B02D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421845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7AD48120-3EC3-4DAB-9FB3-373FB3D4C663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2190750"/>
            <a:ext cx="95726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让创意，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成为现实。</a:t>
            </a:r>
          </a:p>
        </p:txBody>
      </p:sp>
      <p:sp>
        <p:nvSpPr>
          <p:cNvPr id="2" name="结束副标题">
            <a:extLst xmlns:a="http://schemas.openxmlformats.org/drawingml/2006/main">
              <a:ext uri="{FF2B5EF4-FFF2-40B4-BE49-F238E27FC236}">
                <a16:creationId xmlns:a16="http://schemas.microsoft.com/office/drawing/2014/main" id="{2BF15EFF-98E1-4926-ADAC-4B0DF58F078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42950" y="44862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2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2EAF3"/>
                </a:solidFill>
                <a:latin typeface="Microsoft YaHei"/>
                <a:ea typeface="Microsoft YaHei"/>
                <a:cs typeface="Microsoft YaHei"/>
              </a:rPr>
              <a:t>感谢聆听  /  欢迎交流</a:t>
            </a:r>
          </a:p>
        </p:txBody>
      </p:sp>
      <p:sp>
        <p:nvSpPr>
          <p:cNvPr id="3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4318983A-9837-4550-8FE3-587E23900C3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42950" y="6076950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团队名称   /   联系方式</a:t>
            </a:r>
          </a:p>
        </p:txBody>
      </p:sp>
    </p:spTree>
    <p:extLst>
      <p:ext uri="{BB962C8B-B14F-4D97-AF65-F5344CB8AC3E}">
        <p14:creationId xmlns:p14="http://schemas.microsoft.com/office/powerpoint/2010/main" val="1347047974"/>
      </p:ext>
    </p:extLst>
  </p:cSld>
</p:sld>
</file>

<file path=ppt/theme/theme1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2026-09-23T13:52:06.8970000Z</dcterms:created>
  <dcterms:modified xsi:type="dcterms:W3CDTF">2026-09-23T13:52:06.8970000Z</dcterms:modified>
</coreProperties>
</file>